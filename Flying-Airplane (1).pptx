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74" r:id="rId5"/>
    <p:sldId id="259" r:id="rId6"/>
    <p:sldId id="260" r:id="rId7"/>
    <p:sldId id="261" r:id="rId8"/>
    <p:sldId id="262" r:id="rId9"/>
    <p:sldId id="263" r:id="rId10"/>
    <p:sldId id="275" r:id="rId11"/>
    <p:sldId id="265" r:id="rId12"/>
    <p:sldId id="266" r:id="rId13"/>
    <p:sldId id="267" r:id="rId14"/>
    <p:sldId id="268" r:id="rId15"/>
    <p:sldId id="269" r:id="rId16"/>
    <p:sldId id="270" r:id="rId17"/>
    <p:sldId id="271" r:id="rId18"/>
    <p:sldId id="272" r:id="rId19"/>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Heading Now 71-78 Bold" panose="020B0604020202020204" charset="0"/>
      <p:regular r:id="rId25"/>
    </p:embeddedFont>
    <p:embeddedFont>
      <p:font typeface="Open Sans" panose="020B0606030504020204" pitchFamily="34" charset="0"/>
      <p:regular r:id="rId26"/>
      <p:bold r:id="rId27"/>
      <p:italic r:id="rId28"/>
      <p:boldItalic r:id="rId29"/>
    </p:embeddedFont>
    <p:embeddedFont>
      <p:font typeface="Open Sans Bold" panose="020B0806030504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652E"/>
    <a:srgbClr val="D6804F"/>
    <a:srgbClr val="D67E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485520-0038-4BA9-B518-B8F22B218416}" type="datetimeFigureOut">
              <a:rPr lang="fr-FR" smtClean="0"/>
              <a:t>15/12/2025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EFB75-DF0A-4796-9000-2D65A6317198}" type="slidenum">
              <a:rPr lang="fr-FR" smtClean="0"/>
              <a:t>‹#›</a:t>
            </a:fld>
            <a:endParaRPr lang="fr-FR"/>
          </a:p>
        </p:txBody>
      </p:sp>
    </p:spTree>
    <p:extLst>
      <p:ext uri="{BB962C8B-B14F-4D97-AF65-F5344CB8AC3E}">
        <p14:creationId xmlns:p14="http://schemas.microsoft.com/office/powerpoint/2010/main" val="3235717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9.svg"/><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10.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2.svg"/><Relationship Id="rId3" Type="http://schemas.openxmlformats.org/officeDocument/2006/relationships/image" Target="../media/image10.png"/><Relationship Id="rId7" Type="http://schemas.openxmlformats.org/officeDocument/2006/relationships/image" Target="../media/image5.svg"/><Relationship Id="rId12"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20.svg"/><Relationship Id="rId5" Type="http://schemas.openxmlformats.org/officeDocument/2006/relationships/image" Target="../media/image9.svg"/><Relationship Id="rId10" Type="http://schemas.openxmlformats.org/officeDocument/2006/relationships/image" Target="../media/image19.png"/><Relationship Id="rId4" Type="http://schemas.openxmlformats.org/officeDocument/2006/relationships/image" Target="../media/image8.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361283" y="2341000"/>
            <a:ext cx="16825154" cy="5729821"/>
          </a:xfrm>
          <a:custGeom>
            <a:avLst/>
            <a:gdLst/>
            <a:ahLst/>
            <a:cxnLst/>
            <a:rect l="l" t="t" r="r" b="b"/>
            <a:pathLst>
              <a:path w="16825154" h="5729821">
                <a:moveTo>
                  <a:pt x="0" y="0"/>
                </a:moveTo>
                <a:lnTo>
                  <a:pt x="16825154" y="0"/>
                </a:lnTo>
                <a:lnTo>
                  <a:pt x="16825154" y="5729821"/>
                </a:lnTo>
                <a:lnTo>
                  <a:pt x="0" y="5729821"/>
                </a:lnTo>
                <a:lnTo>
                  <a:pt x="0" y="0"/>
                </a:lnTo>
                <a:close/>
              </a:path>
            </a:pathLst>
          </a:custGeom>
          <a:blipFill>
            <a:blip r:embed="rId2"/>
            <a:stretch>
              <a:fillRect t="-48887" b="-48887"/>
            </a:stretch>
          </a:blipFill>
        </p:spPr>
      </p:sp>
      <p:sp>
        <p:nvSpPr>
          <p:cNvPr id="3" name="Freeform 3"/>
          <p:cNvSpPr/>
          <p:nvPr/>
        </p:nvSpPr>
        <p:spPr>
          <a:xfrm rot="5400000">
            <a:off x="-2571750" y="2571750"/>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0" y="0"/>
            <a:ext cx="1743343" cy="10287000"/>
            <a:chOff x="0" y="0"/>
            <a:chExt cx="459152" cy="2709333"/>
          </a:xfrm>
        </p:grpSpPr>
        <p:sp>
          <p:nvSpPr>
            <p:cNvPr id="5" name="Freeform 5"/>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6" name="TextBox 6"/>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2571750" y="2757488"/>
            <a:ext cx="10190336" cy="4543425"/>
          </a:xfrm>
          <a:prstGeom prst="rect">
            <a:avLst/>
          </a:prstGeom>
        </p:spPr>
        <p:txBody>
          <a:bodyPr lIns="0" tIns="0" rIns="0" bIns="0" rtlCol="0" anchor="t">
            <a:spAutoFit/>
          </a:bodyPr>
          <a:lstStyle/>
          <a:p>
            <a:pPr algn="l">
              <a:lnSpc>
                <a:spcPts val="11399"/>
              </a:lnSpc>
            </a:pPr>
            <a:r>
              <a:rPr lang="en-US" sz="9499" b="1">
                <a:solidFill>
                  <a:srgbClr val="ED7843"/>
                </a:solidFill>
                <a:latin typeface="Heading Now 71-78 Bold"/>
                <a:ea typeface="Heading Now 71-78 Bold"/>
                <a:cs typeface="Heading Now 71-78 Bold"/>
                <a:sym typeface="Heading Now 71-78 Bold"/>
              </a:rPr>
              <a:t>AIRLINE LOYALTY PROGRAM</a:t>
            </a:r>
          </a:p>
        </p:txBody>
      </p:sp>
      <p:sp>
        <p:nvSpPr>
          <p:cNvPr id="8" name="Freeform 8"/>
          <p:cNvSpPr/>
          <p:nvPr/>
        </p:nvSpPr>
        <p:spPr>
          <a:xfrm>
            <a:off x="10455146" y="2802114"/>
            <a:ext cx="6443377" cy="6361370"/>
          </a:xfrm>
          <a:custGeom>
            <a:avLst/>
            <a:gdLst/>
            <a:ahLst/>
            <a:cxnLst/>
            <a:rect l="l" t="t" r="r" b="b"/>
            <a:pathLst>
              <a:path w="6443377" h="6361370">
                <a:moveTo>
                  <a:pt x="0" y="0"/>
                </a:moveTo>
                <a:lnTo>
                  <a:pt x="6443377" y="0"/>
                </a:lnTo>
                <a:lnTo>
                  <a:pt x="6443377" y="6361371"/>
                </a:lnTo>
                <a:lnTo>
                  <a:pt x="0" y="6361371"/>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9" name="Freeform 9"/>
          <p:cNvSpPr/>
          <p:nvPr/>
        </p:nvSpPr>
        <p:spPr>
          <a:xfrm>
            <a:off x="11067216" y="2025225"/>
            <a:ext cx="6443377" cy="6361370"/>
          </a:xfrm>
          <a:custGeom>
            <a:avLst/>
            <a:gdLst/>
            <a:ahLst/>
            <a:cxnLst/>
            <a:rect l="l" t="t" r="r" b="b"/>
            <a:pathLst>
              <a:path w="6443377" h="6361370">
                <a:moveTo>
                  <a:pt x="0" y="0"/>
                </a:moveTo>
                <a:lnTo>
                  <a:pt x="6443377" y="0"/>
                </a:lnTo>
                <a:lnTo>
                  <a:pt x="6443377" y="6361370"/>
                </a:lnTo>
                <a:lnTo>
                  <a:pt x="0" y="636137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a:off x="7770156" y="1201228"/>
            <a:ext cx="15566181" cy="8361872"/>
          </a:xfrm>
          <a:custGeom>
            <a:avLst/>
            <a:gdLst/>
            <a:ahLst/>
            <a:cxnLst/>
            <a:rect l="l" t="t" r="r" b="b"/>
            <a:pathLst>
              <a:path w="15566181" h="8361872">
                <a:moveTo>
                  <a:pt x="0" y="0"/>
                </a:moveTo>
                <a:lnTo>
                  <a:pt x="15566181" y="0"/>
                </a:lnTo>
                <a:lnTo>
                  <a:pt x="15566181" y="8361872"/>
                </a:lnTo>
                <a:lnTo>
                  <a:pt x="0" y="8361872"/>
                </a:lnTo>
                <a:lnTo>
                  <a:pt x="0" y="0"/>
                </a:lnTo>
                <a:close/>
              </a:path>
            </a:pathLst>
          </a:custGeom>
          <a:blipFill>
            <a:blip r:embed="rId9">
              <a:alphaModFix amt="25000"/>
              <a:extLst>
                <a:ext uri="{96DAC541-7B7A-43D3-8B79-37D633B846F1}">
                  <asvg:svgBlip xmlns:asvg="http://schemas.microsoft.com/office/drawing/2016/SVG/main" r:embed="rId10"/>
                </a:ext>
              </a:extLst>
            </a:blip>
            <a:stretch>
              <a:fillRect/>
            </a:stretch>
          </a:blipFill>
        </p:spPr>
      </p:sp>
      <p:sp>
        <p:nvSpPr>
          <p:cNvPr id="11" name="TextBox 11"/>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5143500" y="3220278"/>
            <a:ext cx="13155172" cy="7066722"/>
          </a:xfrm>
          <a:custGeom>
            <a:avLst/>
            <a:gdLst/>
            <a:ahLst/>
            <a:cxnLst/>
            <a:rect l="l" t="t" r="r" b="b"/>
            <a:pathLst>
              <a:path w="13155172" h="7066722">
                <a:moveTo>
                  <a:pt x="0" y="0"/>
                </a:moveTo>
                <a:lnTo>
                  <a:pt x="13155172" y="0"/>
                </a:lnTo>
                <a:lnTo>
                  <a:pt x="13155172" y="7066722"/>
                </a:lnTo>
                <a:lnTo>
                  <a:pt x="0" y="7066722"/>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574108" y="3227847"/>
            <a:ext cx="13207873" cy="1692212"/>
          </a:xfrm>
          <a:custGeom>
            <a:avLst/>
            <a:gdLst/>
            <a:ahLst/>
            <a:cxnLst/>
            <a:rect l="l" t="t" r="r" b="b"/>
            <a:pathLst>
              <a:path w="13207873" h="1692212">
                <a:moveTo>
                  <a:pt x="0" y="0"/>
                </a:moveTo>
                <a:lnTo>
                  <a:pt x="13207873" y="0"/>
                </a:lnTo>
                <a:lnTo>
                  <a:pt x="13207873" y="1692212"/>
                </a:lnTo>
                <a:lnTo>
                  <a:pt x="0" y="1692212"/>
                </a:lnTo>
                <a:lnTo>
                  <a:pt x="0" y="0"/>
                </a:lnTo>
                <a:close/>
              </a:path>
            </a:pathLst>
          </a:custGeom>
          <a:blipFill>
            <a:blip r:embed="rId4"/>
            <a:stretch>
              <a:fillRect l="-11900" r="-11900"/>
            </a:stretch>
          </a:blipFill>
        </p:spPr>
      </p:sp>
      <p:sp>
        <p:nvSpPr>
          <p:cNvPr id="4" name="Freeform 4"/>
          <p:cNvSpPr/>
          <p:nvPr/>
        </p:nvSpPr>
        <p:spPr>
          <a:xfrm>
            <a:off x="1574108" y="5482041"/>
            <a:ext cx="11039667" cy="1692212"/>
          </a:xfrm>
          <a:custGeom>
            <a:avLst/>
            <a:gdLst/>
            <a:ahLst/>
            <a:cxnLst/>
            <a:rect l="l" t="t" r="r" b="b"/>
            <a:pathLst>
              <a:path w="11039667" h="1692212">
                <a:moveTo>
                  <a:pt x="0" y="0"/>
                </a:moveTo>
                <a:lnTo>
                  <a:pt x="11039667" y="0"/>
                </a:lnTo>
                <a:lnTo>
                  <a:pt x="11039667" y="1692212"/>
                </a:lnTo>
                <a:lnTo>
                  <a:pt x="0" y="1692212"/>
                </a:lnTo>
                <a:lnTo>
                  <a:pt x="0" y="0"/>
                </a:lnTo>
                <a:close/>
              </a:path>
            </a:pathLst>
          </a:custGeom>
          <a:blipFill>
            <a:blip r:embed="rId4"/>
            <a:stretch>
              <a:fillRect l="-14238" r="-33878"/>
            </a:stretch>
          </a:blipFill>
        </p:spPr>
      </p:sp>
      <p:sp>
        <p:nvSpPr>
          <p:cNvPr id="5" name="Freeform 5"/>
          <p:cNvSpPr/>
          <p:nvPr/>
        </p:nvSpPr>
        <p:spPr>
          <a:xfrm>
            <a:off x="1574108" y="7740275"/>
            <a:ext cx="8597260" cy="1692212"/>
          </a:xfrm>
          <a:custGeom>
            <a:avLst/>
            <a:gdLst/>
            <a:ahLst/>
            <a:cxnLst/>
            <a:rect l="l" t="t" r="r" b="b"/>
            <a:pathLst>
              <a:path w="8597260" h="1692212">
                <a:moveTo>
                  <a:pt x="0" y="0"/>
                </a:moveTo>
                <a:lnTo>
                  <a:pt x="8597261" y="0"/>
                </a:lnTo>
                <a:lnTo>
                  <a:pt x="8597261" y="1692212"/>
                </a:lnTo>
                <a:lnTo>
                  <a:pt x="0" y="1692212"/>
                </a:lnTo>
                <a:lnTo>
                  <a:pt x="0" y="0"/>
                </a:lnTo>
                <a:close/>
              </a:path>
            </a:pathLst>
          </a:custGeom>
          <a:blipFill>
            <a:blip r:embed="rId4"/>
            <a:stretch>
              <a:fillRect l="-18283" r="-71912"/>
            </a:stretch>
          </a:blipFill>
        </p:spPr>
      </p:sp>
      <p:sp>
        <p:nvSpPr>
          <p:cNvPr id="6" name="Freeform 6"/>
          <p:cNvSpPr/>
          <p:nvPr/>
        </p:nvSpPr>
        <p:spPr>
          <a:xfrm rot="5400000">
            <a:off x="-2571750" y="2571750"/>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0" y="0"/>
            <a:ext cx="1743343" cy="10287000"/>
            <a:chOff x="0" y="0"/>
            <a:chExt cx="459152" cy="2709333"/>
          </a:xfrm>
        </p:grpSpPr>
        <p:sp>
          <p:nvSpPr>
            <p:cNvPr id="8" name="Freeform 8"/>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9" name="TextBox 9"/>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376000" y="1216833"/>
            <a:ext cx="14243947" cy="1419225"/>
          </a:xfrm>
          <a:prstGeom prst="rect">
            <a:avLst/>
          </a:prstGeom>
        </p:spPr>
        <p:txBody>
          <a:bodyPr lIns="0" tIns="0" rIns="0" bIns="0" rtlCol="0" anchor="t">
            <a:spAutoFit/>
          </a:bodyPr>
          <a:lstStyle/>
          <a:p>
            <a:pPr algn="l">
              <a:lnSpc>
                <a:spcPts val="9600"/>
              </a:lnSpc>
            </a:pPr>
            <a:r>
              <a:rPr lang="en-US" sz="8000" b="1">
                <a:solidFill>
                  <a:srgbClr val="FFFFFF"/>
                </a:solidFill>
                <a:latin typeface="Heading Now 71-78 Bold"/>
                <a:ea typeface="Heading Now 71-78 Bold"/>
                <a:cs typeface="Heading Now 71-78 Bold"/>
                <a:sym typeface="Heading Now 71-78 Bold"/>
              </a:rPr>
              <a:t>BILAN</a:t>
            </a:r>
          </a:p>
        </p:txBody>
      </p:sp>
      <p:sp>
        <p:nvSpPr>
          <p:cNvPr id="11" name="TextBox 11"/>
          <p:cNvSpPr txBox="1"/>
          <p:nvPr/>
        </p:nvSpPr>
        <p:spPr>
          <a:xfrm>
            <a:off x="2108857" y="3337320"/>
            <a:ext cx="1178023" cy="1219200"/>
          </a:xfrm>
          <a:prstGeom prst="rect">
            <a:avLst/>
          </a:prstGeom>
        </p:spPr>
        <p:txBody>
          <a:bodyPr lIns="0" tIns="0" rIns="0" bIns="0" rtlCol="0" anchor="t">
            <a:spAutoFit/>
          </a:bodyPr>
          <a:lstStyle/>
          <a:p>
            <a:pPr algn="l">
              <a:lnSpc>
                <a:spcPts val="8399"/>
              </a:lnSpc>
            </a:pPr>
            <a:r>
              <a:rPr lang="en-US" sz="6999" b="1">
                <a:solidFill>
                  <a:srgbClr val="78A7B2"/>
                </a:solidFill>
                <a:latin typeface="Heading Now 71-78 Bold"/>
                <a:ea typeface="Heading Now 71-78 Bold"/>
                <a:cs typeface="Heading Now 71-78 Bold"/>
                <a:sym typeface="Heading Now 71-78 Bold"/>
              </a:rPr>
              <a:t>01</a:t>
            </a:r>
          </a:p>
        </p:txBody>
      </p:sp>
      <p:sp>
        <p:nvSpPr>
          <p:cNvPr id="12" name="TextBox 12"/>
          <p:cNvSpPr txBox="1"/>
          <p:nvPr/>
        </p:nvSpPr>
        <p:spPr>
          <a:xfrm>
            <a:off x="2108857" y="5598324"/>
            <a:ext cx="1317755" cy="1219200"/>
          </a:xfrm>
          <a:prstGeom prst="rect">
            <a:avLst/>
          </a:prstGeom>
        </p:spPr>
        <p:txBody>
          <a:bodyPr lIns="0" tIns="0" rIns="0" bIns="0" rtlCol="0" anchor="t">
            <a:spAutoFit/>
          </a:bodyPr>
          <a:lstStyle/>
          <a:p>
            <a:pPr algn="l">
              <a:lnSpc>
                <a:spcPts val="8399"/>
              </a:lnSpc>
            </a:pPr>
            <a:r>
              <a:rPr lang="en-US" sz="6999" b="1">
                <a:solidFill>
                  <a:srgbClr val="999B93"/>
                </a:solidFill>
                <a:latin typeface="Heading Now 71-78 Bold"/>
                <a:ea typeface="Heading Now 71-78 Bold"/>
                <a:cs typeface="Heading Now 71-78 Bold"/>
                <a:sym typeface="Heading Now 71-78 Bold"/>
              </a:rPr>
              <a:t>02</a:t>
            </a:r>
          </a:p>
        </p:txBody>
      </p:sp>
      <p:sp>
        <p:nvSpPr>
          <p:cNvPr id="13" name="TextBox 13"/>
          <p:cNvSpPr txBox="1"/>
          <p:nvPr/>
        </p:nvSpPr>
        <p:spPr>
          <a:xfrm>
            <a:off x="2108857" y="7936253"/>
            <a:ext cx="1403804" cy="1219200"/>
          </a:xfrm>
          <a:prstGeom prst="rect">
            <a:avLst/>
          </a:prstGeom>
        </p:spPr>
        <p:txBody>
          <a:bodyPr lIns="0" tIns="0" rIns="0" bIns="0" rtlCol="0" anchor="t">
            <a:spAutoFit/>
          </a:bodyPr>
          <a:lstStyle/>
          <a:p>
            <a:pPr algn="l">
              <a:lnSpc>
                <a:spcPts val="8399"/>
              </a:lnSpc>
            </a:pPr>
            <a:r>
              <a:rPr lang="en-US" sz="6999" b="1">
                <a:solidFill>
                  <a:srgbClr val="C8855C"/>
                </a:solidFill>
                <a:latin typeface="Heading Now 71-78 Bold"/>
                <a:ea typeface="Heading Now 71-78 Bold"/>
                <a:cs typeface="Heading Now 71-78 Bold"/>
                <a:sym typeface="Heading Now 71-78 Bold"/>
              </a:rPr>
              <a:t>03</a:t>
            </a:r>
          </a:p>
        </p:txBody>
      </p:sp>
      <p:sp>
        <p:nvSpPr>
          <p:cNvPr id="14" name="TextBox 14"/>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5" name="TextBox 15"/>
          <p:cNvSpPr txBox="1"/>
          <p:nvPr/>
        </p:nvSpPr>
        <p:spPr>
          <a:xfrm>
            <a:off x="3426612" y="5817399"/>
            <a:ext cx="6173320" cy="461665"/>
          </a:xfrm>
          <a:prstGeom prst="rect">
            <a:avLst/>
          </a:prstGeom>
        </p:spPr>
        <p:txBody>
          <a:bodyPr lIns="0" tIns="0" rIns="0" bIns="0" rtlCol="0" anchor="t">
            <a:spAutoFit/>
          </a:bodyPr>
          <a:lstStyle/>
          <a:p>
            <a:pPr marL="0" lvl="0" indent="0" algn="ctr">
              <a:lnSpc>
                <a:spcPts val="3600"/>
              </a:lnSpc>
              <a:spcBef>
                <a:spcPct val="0"/>
              </a:spcBef>
            </a:pPr>
            <a:r>
              <a:rPr lang="en-US" sz="3600" b="1" dirty="0">
                <a:solidFill>
                  <a:srgbClr val="999B93"/>
                </a:solidFill>
                <a:latin typeface="Heading Now 71-78 Bold"/>
                <a:ea typeface="Heading Now 71-78 Bold"/>
                <a:cs typeface="Heading Now 71-78 Bold"/>
                <a:sym typeface="Heading Now 71-78 Bold"/>
              </a:rPr>
              <a:t>OBJECTIFS</a:t>
            </a:r>
          </a:p>
        </p:txBody>
      </p:sp>
      <p:sp>
        <p:nvSpPr>
          <p:cNvPr id="16" name="TextBox 16"/>
          <p:cNvSpPr txBox="1"/>
          <p:nvPr/>
        </p:nvSpPr>
        <p:spPr>
          <a:xfrm>
            <a:off x="3788562" y="3759628"/>
            <a:ext cx="6632955" cy="461665"/>
          </a:xfrm>
          <a:prstGeom prst="rect">
            <a:avLst/>
          </a:prstGeom>
        </p:spPr>
        <p:txBody>
          <a:bodyPr lIns="0" tIns="0" rIns="0" bIns="0" rtlCol="0" anchor="t">
            <a:spAutoFit/>
          </a:bodyPr>
          <a:lstStyle/>
          <a:p>
            <a:pPr marL="0" lvl="0" indent="0" algn="ctr">
              <a:lnSpc>
                <a:spcPts val="3600"/>
              </a:lnSpc>
              <a:spcBef>
                <a:spcPct val="0"/>
              </a:spcBef>
            </a:pPr>
            <a:r>
              <a:rPr lang="en-US" sz="3600" b="1" dirty="0">
                <a:solidFill>
                  <a:srgbClr val="78A7B2"/>
                </a:solidFill>
                <a:latin typeface="Heading Now 71-78 Bold"/>
                <a:ea typeface="Heading Now 71-78 Bold"/>
                <a:cs typeface="Heading Now 71-78 Bold"/>
                <a:sym typeface="Heading Now 71-78 Bold"/>
              </a:rPr>
              <a:t>Introduction</a:t>
            </a:r>
          </a:p>
        </p:txBody>
      </p:sp>
      <p:sp>
        <p:nvSpPr>
          <p:cNvPr id="17" name="TextBox 17"/>
          <p:cNvSpPr txBox="1"/>
          <p:nvPr/>
        </p:nvSpPr>
        <p:spPr>
          <a:xfrm>
            <a:off x="3930958" y="8155328"/>
            <a:ext cx="6172263" cy="461665"/>
          </a:xfrm>
          <a:prstGeom prst="rect">
            <a:avLst/>
          </a:prstGeom>
        </p:spPr>
        <p:txBody>
          <a:bodyPr lIns="0" tIns="0" rIns="0" bIns="0" rtlCol="0" anchor="t">
            <a:spAutoFit/>
          </a:bodyPr>
          <a:lstStyle/>
          <a:p>
            <a:pPr marL="0" lvl="0" indent="0" algn="l">
              <a:lnSpc>
                <a:spcPts val="3600"/>
              </a:lnSpc>
              <a:spcBef>
                <a:spcPct val="0"/>
              </a:spcBef>
            </a:pPr>
            <a:r>
              <a:rPr lang="en-US" sz="3600" b="1" dirty="0">
                <a:solidFill>
                  <a:srgbClr val="C8855C"/>
                </a:solidFill>
                <a:latin typeface="Heading Now 71-78 Bold"/>
                <a:ea typeface="Heading Now 71-78 Bold"/>
                <a:cs typeface="Heading Now 71-78 Bold"/>
                <a:sym typeface="Heading Now 71-78 Bold"/>
              </a:rPr>
              <a:t> Conception</a:t>
            </a:r>
          </a:p>
        </p:txBody>
      </p:sp>
      <p:grpSp>
        <p:nvGrpSpPr>
          <p:cNvPr id="18" name="Group 18"/>
          <p:cNvGrpSpPr/>
          <p:nvPr/>
        </p:nvGrpSpPr>
        <p:grpSpPr>
          <a:xfrm>
            <a:off x="13458182" y="2855133"/>
            <a:ext cx="2861257" cy="2894841"/>
            <a:chOff x="0" y="0"/>
            <a:chExt cx="3815010" cy="3859788"/>
          </a:xfrm>
        </p:grpSpPr>
        <p:sp>
          <p:nvSpPr>
            <p:cNvPr id="19" name="Freeform 19"/>
            <p:cNvSpPr/>
            <p:nvPr/>
          </p:nvSpPr>
          <p:spPr>
            <a:xfrm>
              <a:off x="0" y="420078"/>
              <a:ext cx="3484052" cy="3439709"/>
            </a:xfrm>
            <a:custGeom>
              <a:avLst/>
              <a:gdLst/>
              <a:ahLst/>
              <a:cxnLst/>
              <a:rect l="l" t="t" r="r" b="b"/>
              <a:pathLst>
                <a:path w="3484052" h="3439709">
                  <a:moveTo>
                    <a:pt x="0" y="0"/>
                  </a:moveTo>
                  <a:lnTo>
                    <a:pt x="3484052" y="0"/>
                  </a:lnTo>
                  <a:lnTo>
                    <a:pt x="3484052" y="3439710"/>
                  </a:lnTo>
                  <a:lnTo>
                    <a:pt x="0" y="3439710"/>
                  </a:lnTo>
                  <a:lnTo>
                    <a:pt x="0"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20" name="Freeform 20"/>
            <p:cNvSpPr/>
            <p:nvPr/>
          </p:nvSpPr>
          <p:spPr>
            <a:xfrm>
              <a:off x="330958" y="0"/>
              <a:ext cx="3484052" cy="3439709"/>
            </a:xfrm>
            <a:custGeom>
              <a:avLst/>
              <a:gdLst/>
              <a:ahLst/>
              <a:cxnLst/>
              <a:rect l="l" t="t" r="r" b="b"/>
              <a:pathLst>
                <a:path w="3484052" h="3439709">
                  <a:moveTo>
                    <a:pt x="0" y="0"/>
                  </a:moveTo>
                  <a:lnTo>
                    <a:pt x="3484052" y="0"/>
                  </a:lnTo>
                  <a:lnTo>
                    <a:pt x="3484052" y="3439709"/>
                  </a:lnTo>
                  <a:lnTo>
                    <a:pt x="0" y="34397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1" name="Group 21"/>
          <p:cNvGrpSpPr/>
          <p:nvPr/>
        </p:nvGrpSpPr>
        <p:grpSpPr>
          <a:xfrm>
            <a:off x="11183147" y="5050196"/>
            <a:ext cx="2861257" cy="2894841"/>
            <a:chOff x="0" y="0"/>
            <a:chExt cx="3815010" cy="3859788"/>
          </a:xfrm>
        </p:grpSpPr>
        <p:sp>
          <p:nvSpPr>
            <p:cNvPr id="22" name="Freeform 22"/>
            <p:cNvSpPr/>
            <p:nvPr/>
          </p:nvSpPr>
          <p:spPr>
            <a:xfrm>
              <a:off x="0" y="420078"/>
              <a:ext cx="3484052" cy="3439709"/>
            </a:xfrm>
            <a:custGeom>
              <a:avLst/>
              <a:gdLst/>
              <a:ahLst/>
              <a:cxnLst/>
              <a:rect l="l" t="t" r="r" b="b"/>
              <a:pathLst>
                <a:path w="3484052" h="3439709">
                  <a:moveTo>
                    <a:pt x="0" y="0"/>
                  </a:moveTo>
                  <a:lnTo>
                    <a:pt x="3484052" y="0"/>
                  </a:lnTo>
                  <a:lnTo>
                    <a:pt x="3484052" y="3439710"/>
                  </a:lnTo>
                  <a:lnTo>
                    <a:pt x="0" y="3439710"/>
                  </a:lnTo>
                  <a:lnTo>
                    <a:pt x="0"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23" name="Freeform 23"/>
            <p:cNvSpPr/>
            <p:nvPr/>
          </p:nvSpPr>
          <p:spPr>
            <a:xfrm>
              <a:off x="330958" y="0"/>
              <a:ext cx="3484052" cy="3439709"/>
            </a:xfrm>
            <a:custGeom>
              <a:avLst/>
              <a:gdLst/>
              <a:ahLst/>
              <a:cxnLst/>
              <a:rect l="l" t="t" r="r" b="b"/>
              <a:pathLst>
                <a:path w="3484052" h="3439709">
                  <a:moveTo>
                    <a:pt x="0" y="0"/>
                  </a:moveTo>
                  <a:lnTo>
                    <a:pt x="3484052" y="0"/>
                  </a:lnTo>
                  <a:lnTo>
                    <a:pt x="3484052" y="3439709"/>
                  </a:lnTo>
                  <a:lnTo>
                    <a:pt x="0" y="34397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24" name="Group 24"/>
          <p:cNvGrpSpPr/>
          <p:nvPr/>
        </p:nvGrpSpPr>
        <p:grpSpPr>
          <a:xfrm>
            <a:off x="8672592" y="7392159"/>
            <a:ext cx="2861257" cy="2894841"/>
            <a:chOff x="0" y="0"/>
            <a:chExt cx="3815010" cy="3859788"/>
          </a:xfrm>
        </p:grpSpPr>
        <p:sp>
          <p:nvSpPr>
            <p:cNvPr id="25" name="Freeform 25"/>
            <p:cNvSpPr/>
            <p:nvPr/>
          </p:nvSpPr>
          <p:spPr>
            <a:xfrm>
              <a:off x="0" y="420078"/>
              <a:ext cx="3484052" cy="3439709"/>
            </a:xfrm>
            <a:custGeom>
              <a:avLst/>
              <a:gdLst/>
              <a:ahLst/>
              <a:cxnLst/>
              <a:rect l="l" t="t" r="r" b="b"/>
              <a:pathLst>
                <a:path w="3484052" h="3439709">
                  <a:moveTo>
                    <a:pt x="0" y="0"/>
                  </a:moveTo>
                  <a:lnTo>
                    <a:pt x="3484052" y="0"/>
                  </a:lnTo>
                  <a:lnTo>
                    <a:pt x="3484052" y="3439710"/>
                  </a:lnTo>
                  <a:lnTo>
                    <a:pt x="0" y="3439710"/>
                  </a:lnTo>
                  <a:lnTo>
                    <a:pt x="0"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26" name="Freeform 26"/>
            <p:cNvSpPr/>
            <p:nvPr/>
          </p:nvSpPr>
          <p:spPr>
            <a:xfrm>
              <a:off x="330958" y="0"/>
              <a:ext cx="3484052" cy="3439709"/>
            </a:xfrm>
            <a:custGeom>
              <a:avLst/>
              <a:gdLst/>
              <a:ahLst/>
              <a:cxnLst/>
              <a:rect l="l" t="t" r="r" b="b"/>
              <a:pathLst>
                <a:path w="3484052" h="3439709">
                  <a:moveTo>
                    <a:pt x="0" y="0"/>
                  </a:moveTo>
                  <a:lnTo>
                    <a:pt x="3484052" y="0"/>
                  </a:lnTo>
                  <a:lnTo>
                    <a:pt x="3484052" y="3439709"/>
                  </a:lnTo>
                  <a:lnTo>
                    <a:pt x="0" y="34397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14488" y="2540493"/>
            <a:ext cx="14420637" cy="7746507"/>
          </a:xfrm>
          <a:custGeom>
            <a:avLst/>
            <a:gdLst/>
            <a:ahLst/>
            <a:cxnLst/>
            <a:rect l="l" t="t" r="r" b="b"/>
            <a:pathLst>
              <a:path w="14420637" h="7746507">
                <a:moveTo>
                  <a:pt x="0" y="0"/>
                </a:moveTo>
                <a:lnTo>
                  <a:pt x="14420637" y="0"/>
                </a:lnTo>
                <a:lnTo>
                  <a:pt x="14420637" y="7746507"/>
                </a:lnTo>
                <a:lnTo>
                  <a:pt x="0" y="7746507"/>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571750" y="2571750"/>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0"/>
            <a:ext cx="1743343" cy="10287000"/>
            <a:chOff x="0" y="0"/>
            <a:chExt cx="459152" cy="2709333"/>
          </a:xfrm>
        </p:grpSpPr>
        <p:sp>
          <p:nvSpPr>
            <p:cNvPr id="5" name="Freeform 5"/>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6" name="TextBox 6"/>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2376000" y="1372065"/>
            <a:ext cx="9042940" cy="1060803"/>
          </a:xfrm>
          <a:prstGeom prst="rect">
            <a:avLst/>
          </a:prstGeom>
        </p:spPr>
        <p:txBody>
          <a:bodyPr lIns="0" tIns="0" rIns="0" bIns="0" rtlCol="0" anchor="t">
            <a:spAutoFit/>
          </a:bodyPr>
          <a:lstStyle/>
          <a:p>
            <a:pPr algn="l">
              <a:lnSpc>
                <a:spcPts val="8669"/>
              </a:lnSpc>
            </a:pPr>
            <a:r>
              <a:rPr lang="en-US" sz="7224" b="1" dirty="0">
                <a:solidFill>
                  <a:srgbClr val="FFFFFF"/>
                </a:solidFill>
                <a:latin typeface="Heading Now 71-78 Bold"/>
                <a:ea typeface="Heading Now 71-78 Bold"/>
                <a:cs typeface="Heading Now 71-78 Bold"/>
                <a:sym typeface="Heading Now 71-78 Bold"/>
              </a:rPr>
              <a:t>Introduction</a:t>
            </a:r>
          </a:p>
        </p:txBody>
      </p:sp>
      <p:grpSp>
        <p:nvGrpSpPr>
          <p:cNvPr id="8" name="Group 8"/>
          <p:cNvGrpSpPr/>
          <p:nvPr/>
        </p:nvGrpSpPr>
        <p:grpSpPr>
          <a:xfrm rot="2926539">
            <a:off x="10660820" y="2311855"/>
            <a:ext cx="7223431" cy="7308215"/>
            <a:chOff x="0" y="0"/>
            <a:chExt cx="9631241" cy="9744286"/>
          </a:xfrm>
        </p:grpSpPr>
        <p:sp>
          <p:nvSpPr>
            <p:cNvPr id="9" name="Freeform 9"/>
            <p:cNvSpPr/>
            <p:nvPr/>
          </p:nvSpPr>
          <p:spPr>
            <a:xfrm flipH="1">
              <a:off x="0" y="1060515"/>
              <a:ext cx="8795717" cy="8683771"/>
            </a:xfrm>
            <a:custGeom>
              <a:avLst/>
              <a:gdLst/>
              <a:ahLst/>
              <a:cxnLst/>
              <a:rect l="l" t="t" r="r" b="b"/>
              <a:pathLst>
                <a:path w="8795717" h="8683771">
                  <a:moveTo>
                    <a:pt x="8795717" y="0"/>
                  </a:moveTo>
                  <a:lnTo>
                    <a:pt x="0" y="0"/>
                  </a:lnTo>
                  <a:lnTo>
                    <a:pt x="0" y="8683771"/>
                  </a:lnTo>
                  <a:lnTo>
                    <a:pt x="8795717" y="8683771"/>
                  </a:lnTo>
                  <a:lnTo>
                    <a:pt x="8795717"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sp>
        <p:sp>
          <p:nvSpPr>
            <p:cNvPr id="10" name="Freeform 10"/>
            <p:cNvSpPr/>
            <p:nvPr/>
          </p:nvSpPr>
          <p:spPr>
            <a:xfrm flipH="1">
              <a:off x="835524" y="0"/>
              <a:ext cx="8795717" cy="8683771"/>
            </a:xfrm>
            <a:custGeom>
              <a:avLst/>
              <a:gdLst/>
              <a:ahLst/>
              <a:cxnLst/>
              <a:rect l="l" t="t" r="r" b="b"/>
              <a:pathLst>
                <a:path w="8795717" h="8683771">
                  <a:moveTo>
                    <a:pt x="8795717" y="0"/>
                  </a:moveTo>
                  <a:lnTo>
                    <a:pt x="0" y="0"/>
                  </a:lnTo>
                  <a:lnTo>
                    <a:pt x="0" y="8683771"/>
                  </a:lnTo>
                  <a:lnTo>
                    <a:pt x="8795717" y="8683771"/>
                  </a:lnTo>
                  <a:lnTo>
                    <a:pt x="8795717"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1" name="TextBox 11"/>
          <p:cNvSpPr txBox="1"/>
          <p:nvPr/>
        </p:nvSpPr>
        <p:spPr>
          <a:xfrm>
            <a:off x="14781981" y="584201"/>
            <a:ext cx="720923"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SERVICE</a:t>
            </a:r>
          </a:p>
        </p:txBody>
      </p:sp>
      <p:sp>
        <p:nvSpPr>
          <p:cNvPr id="12" name="TextBox 12"/>
          <p:cNvSpPr txBox="1"/>
          <p:nvPr/>
        </p:nvSpPr>
        <p:spPr>
          <a:xfrm>
            <a:off x="16395576" y="584201"/>
            <a:ext cx="863724"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CONTACT</a:t>
            </a:r>
          </a:p>
        </p:txBody>
      </p:sp>
      <p:sp>
        <p:nvSpPr>
          <p:cNvPr id="13" name="TextBox 13"/>
          <p:cNvSpPr txBox="1"/>
          <p:nvPr/>
        </p:nvSpPr>
        <p:spPr>
          <a:xfrm>
            <a:off x="13139951" y="584201"/>
            <a:ext cx="636463"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ABOUT</a:t>
            </a:r>
          </a:p>
        </p:txBody>
      </p:sp>
      <p:sp>
        <p:nvSpPr>
          <p:cNvPr id="14" name="TextBox 14"/>
          <p:cNvSpPr txBox="1"/>
          <p:nvPr/>
        </p:nvSpPr>
        <p:spPr>
          <a:xfrm>
            <a:off x="2376000" y="584201"/>
            <a:ext cx="1095301"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YOUR LOGO</a:t>
            </a:r>
          </a:p>
        </p:txBody>
      </p:sp>
      <p:sp>
        <p:nvSpPr>
          <p:cNvPr id="15" name="TextBox 15"/>
          <p:cNvSpPr txBox="1"/>
          <p:nvPr/>
        </p:nvSpPr>
        <p:spPr>
          <a:xfrm>
            <a:off x="3312247" y="3482463"/>
            <a:ext cx="9379740" cy="7382727"/>
          </a:xfrm>
          <a:prstGeom prst="rect">
            <a:avLst/>
          </a:prstGeom>
        </p:spPr>
        <p:txBody>
          <a:bodyPr wrap="square" lIns="0" tIns="0" rIns="0" bIns="0" rtlCol="0" anchor="t">
            <a:spAutoFit/>
          </a:bodyPr>
          <a:lstStyle/>
          <a:p>
            <a:pPr marL="571500" indent="-571500" algn="l">
              <a:lnSpc>
                <a:spcPts val="3359"/>
              </a:lnSpc>
              <a:buFont typeface="Wingdings" panose="05000000000000000000" pitchFamily="2" charset="2"/>
              <a:buChar char="Ø"/>
            </a:pPr>
            <a:r>
              <a:rPr lang="en-US" sz="4000" u="sng" dirty="0" err="1">
                <a:solidFill>
                  <a:schemeClr val="accent6">
                    <a:lumMod val="50000"/>
                  </a:schemeClr>
                </a:solidFill>
                <a:latin typeface="+mj-lt"/>
                <a:ea typeface="Open Sans"/>
                <a:cs typeface="Aharoni" panose="02010803020104030203" pitchFamily="2" charset="-79"/>
                <a:sym typeface="Open Sans"/>
              </a:rPr>
              <a:t>Entreprise</a:t>
            </a:r>
            <a:r>
              <a:rPr lang="en-US" sz="4000" u="sng" dirty="0">
                <a:solidFill>
                  <a:schemeClr val="accent6">
                    <a:lumMod val="50000"/>
                  </a:schemeClr>
                </a:solidFill>
                <a:latin typeface="+mj-lt"/>
                <a:ea typeface="Open Sans"/>
                <a:cs typeface="Aharoni" panose="02010803020104030203" pitchFamily="2" charset="-79"/>
                <a:sym typeface="Open Sans"/>
              </a:rPr>
              <a:t> : </a:t>
            </a:r>
          </a:p>
          <a:p>
            <a:pPr algn="l">
              <a:lnSpc>
                <a:spcPts val="3359"/>
              </a:lnSpc>
            </a:pPr>
            <a:endParaRPr lang="en-US" sz="4000" u="sng" dirty="0">
              <a:solidFill>
                <a:schemeClr val="accent6">
                  <a:lumMod val="50000"/>
                </a:schemeClr>
              </a:solidFill>
              <a:latin typeface="+mj-lt"/>
              <a:ea typeface="Open Sans"/>
              <a:cs typeface="Aharoni" panose="02010803020104030203" pitchFamily="2" charset="-79"/>
              <a:sym typeface="Open Sans"/>
            </a:endParaRPr>
          </a:p>
          <a:p>
            <a:pPr algn="l">
              <a:lnSpc>
                <a:spcPts val="3359"/>
              </a:lnSpc>
            </a:pPr>
            <a:r>
              <a:rPr lang="en-US" sz="4000" dirty="0">
                <a:solidFill>
                  <a:schemeClr val="bg1"/>
                </a:solidFill>
                <a:latin typeface="+mj-lt"/>
                <a:ea typeface="Open Sans"/>
                <a:cs typeface="Aharoni" panose="02010803020104030203" pitchFamily="2" charset="-79"/>
                <a:sym typeface="Open Sans"/>
              </a:rPr>
              <a:t>Norther Lights Air, compagnie </a:t>
            </a:r>
            <a:r>
              <a:rPr lang="en-US" sz="4000" dirty="0" err="1">
                <a:solidFill>
                  <a:schemeClr val="bg1"/>
                </a:solidFill>
                <a:latin typeface="+mj-lt"/>
                <a:ea typeface="Open Sans"/>
                <a:cs typeface="Aharoni" panose="02010803020104030203" pitchFamily="2" charset="-79"/>
                <a:sym typeface="Open Sans"/>
              </a:rPr>
              <a:t>aérienne</a:t>
            </a:r>
            <a:r>
              <a:rPr lang="en-US" sz="4000" dirty="0">
                <a:solidFill>
                  <a:schemeClr val="bg1"/>
                </a:solidFill>
                <a:latin typeface="+mj-lt"/>
                <a:ea typeface="Open Sans"/>
                <a:cs typeface="Aharoni" panose="02010803020104030203" pitchFamily="2" charset="-79"/>
                <a:sym typeface="Open Sans"/>
              </a:rPr>
              <a:t> fictive </a:t>
            </a:r>
            <a:r>
              <a:rPr lang="en-US" sz="4000" dirty="0" err="1">
                <a:solidFill>
                  <a:schemeClr val="bg1"/>
                </a:solidFill>
                <a:latin typeface="+mj-lt"/>
                <a:ea typeface="Open Sans"/>
                <a:cs typeface="Aharoni" panose="02010803020104030203" pitchFamily="2" charset="-79"/>
                <a:sym typeface="Open Sans"/>
              </a:rPr>
              <a:t>basée</a:t>
            </a:r>
            <a:r>
              <a:rPr lang="en-US" sz="4000" dirty="0">
                <a:solidFill>
                  <a:schemeClr val="bg1"/>
                </a:solidFill>
                <a:latin typeface="+mj-lt"/>
                <a:ea typeface="Open Sans"/>
                <a:cs typeface="Aharoni" panose="02010803020104030203" pitchFamily="2" charset="-79"/>
                <a:sym typeface="Open Sans"/>
              </a:rPr>
              <a:t> au Canada. </a:t>
            </a:r>
          </a:p>
          <a:p>
            <a:pPr algn="l">
              <a:lnSpc>
                <a:spcPts val="3359"/>
              </a:lnSpc>
            </a:pPr>
            <a:endParaRPr lang="en-US" sz="4000" dirty="0">
              <a:solidFill>
                <a:schemeClr val="bg1"/>
              </a:solidFill>
              <a:latin typeface="+mj-lt"/>
              <a:ea typeface="Open Sans"/>
              <a:cs typeface="Aharoni" panose="02010803020104030203" pitchFamily="2" charset="-79"/>
              <a:sym typeface="Open Sans"/>
            </a:endParaRPr>
          </a:p>
          <a:p>
            <a:pPr marL="571500" indent="-571500" algn="l">
              <a:lnSpc>
                <a:spcPts val="3359"/>
              </a:lnSpc>
              <a:buFont typeface="Wingdings" panose="05000000000000000000" pitchFamily="2" charset="2"/>
              <a:buChar char="Ø"/>
            </a:pPr>
            <a:r>
              <a:rPr lang="en-US" sz="4000" u="sng" dirty="0" err="1">
                <a:solidFill>
                  <a:schemeClr val="accent6">
                    <a:lumMod val="50000"/>
                  </a:schemeClr>
                </a:solidFill>
                <a:latin typeface="+mj-lt"/>
                <a:ea typeface="Open Sans"/>
                <a:cs typeface="Aharoni" panose="02010803020104030203" pitchFamily="2" charset="-79"/>
                <a:sym typeface="Open Sans"/>
              </a:rPr>
              <a:t>Programme</a:t>
            </a:r>
            <a:r>
              <a:rPr lang="en-US" sz="4000" u="sng" dirty="0">
                <a:solidFill>
                  <a:schemeClr val="accent6">
                    <a:lumMod val="50000"/>
                  </a:schemeClr>
                </a:solidFill>
                <a:latin typeface="+mj-lt"/>
                <a:ea typeface="Open Sans"/>
                <a:cs typeface="Aharoni" panose="02010803020104030203" pitchFamily="2" charset="-79"/>
                <a:sym typeface="Open Sans"/>
              </a:rPr>
              <a:t> de </a:t>
            </a:r>
            <a:r>
              <a:rPr lang="en-US" sz="4000" u="sng" dirty="0" err="1">
                <a:solidFill>
                  <a:schemeClr val="accent6">
                    <a:lumMod val="50000"/>
                  </a:schemeClr>
                </a:solidFill>
                <a:latin typeface="+mj-lt"/>
                <a:ea typeface="Open Sans"/>
                <a:cs typeface="Aharoni" panose="02010803020104030203" pitchFamily="2" charset="-79"/>
                <a:sym typeface="Open Sans"/>
              </a:rPr>
              <a:t>fidèlité</a:t>
            </a:r>
            <a:r>
              <a:rPr lang="en-US" sz="4000" u="sng" dirty="0">
                <a:solidFill>
                  <a:schemeClr val="accent6">
                    <a:lumMod val="50000"/>
                  </a:schemeClr>
                </a:solidFill>
                <a:latin typeface="+mj-lt"/>
                <a:ea typeface="Open Sans"/>
                <a:cs typeface="Aharoni" panose="02010803020104030203" pitchFamily="2" charset="-79"/>
                <a:sym typeface="Open Sans"/>
              </a:rPr>
              <a:t> : </a:t>
            </a:r>
          </a:p>
          <a:p>
            <a:pPr algn="l">
              <a:lnSpc>
                <a:spcPts val="3359"/>
              </a:lnSpc>
            </a:pPr>
            <a:endParaRPr lang="en-US" sz="4000" u="sng" dirty="0">
              <a:solidFill>
                <a:schemeClr val="accent6">
                  <a:lumMod val="50000"/>
                </a:schemeClr>
              </a:solidFill>
              <a:latin typeface="+mj-lt"/>
              <a:ea typeface="Open Sans"/>
              <a:cs typeface="Aharoni" panose="02010803020104030203" pitchFamily="2" charset="-79"/>
              <a:sym typeface="Open Sans"/>
            </a:endParaRPr>
          </a:p>
          <a:p>
            <a:pPr algn="l">
              <a:lnSpc>
                <a:spcPts val="3359"/>
              </a:lnSpc>
            </a:pPr>
            <a:r>
              <a:rPr lang="fr-FR" sz="4000" dirty="0">
                <a:solidFill>
                  <a:schemeClr val="bg1"/>
                </a:solidFill>
                <a:latin typeface="+mj-lt"/>
                <a:cs typeface="Aharoni" panose="02010803020104030203" pitchFamily="2" charset="-79"/>
              </a:rPr>
              <a:t>réservation → accumulation de points → remboursement en dollars</a:t>
            </a:r>
            <a:endParaRPr lang="en-US" sz="4000" dirty="0">
              <a:solidFill>
                <a:schemeClr val="bg1"/>
              </a:solidFill>
              <a:latin typeface="+mj-lt"/>
              <a:ea typeface="Open Sans"/>
              <a:cs typeface="Aharoni" panose="02010803020104030203" pitchFamily="2" charset="-79"/>
              <a:sym typeface="Open Sans"/>
            </a:endParaRPr>
          </a:p>
          <a:p>
            <a:pPr algn="l">
              <a:lnSpc>
                <a:spcPts val="3359"/>
              </a:lnSpc>
            </a:pPr>
            <a:endParaRPr lang="en-US" sz="4000" dirty="0">
              <a:solidFill>
                <a:srgbClr val="FFFFFF"/>
              </a:solidFill>
              <a:latin typeface="+mj-lt"/>
              <a:ea typeface="Open Sans"/>
              <a:cs typeface="Aharoni" panose="02010803020104030203" pitchFamily="2" charset="-79"/>
              <a:sym typeface="Open Sans"/>
            </a:endParaRPr>
          </a:p>
          <a:p>
            <a:pPr marL="571500" indent="-571500" algn="l">
              <a:lnSpc>
                <a:spcPts val="3359"/>
              </a:lnSpc>
              <a:buFont typeface="Wingdings" panose="05000000000000000000" pitchFamily="2" charset="2"/>
              <a:buChar char="Ø"/>
            </a:pPr>
            <a:r>
              <a:rPr lang="fr-FR" sz="4000" u="sng" dirty="0">
                <a:solidFill>
                  <a:schemeClr val="accent6">
                    <a:lumMod val="50000"/>
                  </a:schemeClr>
                </a:solidFill>
                <a:latin typeface="+mj-lt"/>
                <a:cs typeface="Aharoni" panose="02010803020104030203" pitchFamily="2" charset="-79"/>
              </a:rPr>
              <a:t>Campagne de promotion: </a:t>
            </a:r>
          </a:p>
          <a:p>
            <a:pPr algn="l">
              <a:lnSpc>
                <a:spcPts val="3359"/>
              </a:lnSpc>
            </a:pPr>
            <a:endParaRPr lang="fr-FR" sz="4000" u="sng" dirty="0">
              <a:solidFill>
                <a:schemeClr val="accent6">
                  <a:lumMod val="50000"/>
                </a:schemeClr>
              </a:solidFill>
              <a:latin typeface="+mj-lt"/>
              <a:cs typeface="Aharoni" panose="02010803020104030203" pitchFamily="2" charset="-79"/>
            </a:endParaRPr>
          </a:p>
          <a:p>
            <a:pPr algn="l">
              <a:lnSpc>
                <a:spcPts val="3359"/>
              </a:lnSpc>
            </a:pPr>
            <a:r>
              <a:rPr lang="fr-FR" sz="4000" dirty="0">
                <a:solidFill>
                  <a:schemeClr val="bg1"/>
                </a:solidFill>
                <a:latin typeface="+mj-lt"/>
                <a:cs typeface="Aharoni" panose="02010803020104030203" pitchFamily="2" charset="-79"/>
              </a:rPr>
              <a:t>01-02-2018 → 31-04-2018</a:t>
            </a:r>
            <a:endParaRPr lang="en-US" sz="4000" dirty="0">
              <a:solidFill>
                <a:schemeClr val="bg1"/>
              </a:solidFill>
              <a:latin typeface="+mj-lt"/>
              <a:ea typeface="Open Sans"/>
              <a:cs typeface="Aharoni" panose="02010803020104030203" pitchFamily="2" charset="-79"/>
              <a:sym typeface="Open Sans"/>
            </a:endParaRPr>
          </a:p>
          <a:p>
            <a:pPr algn="l">
              <a:lnSpc>
                <a:spcPts val="3359"/>
              </a:lnSpc>
            </a:pPr>
            <a:r>
              <a:rPr lang="en-US" sz="4000" dirty="0">
                <a:solidFill>
                  <a:srgbClr val="FFFFFF"/>
                </a:solidFill>
                <a:latin typeface="+mj-lt"/>
                <a:ea typeface="Open Sans"/>
                <a:cs typeface="Aharoni" panose="02010803020104030203" pitchFamily="2" charset="-79"/>
                <a:sym typeface="Open Sans"/>
              </a:rPr>
              <a:t>Pour augmenter le </a:t>
            </a:r>
            <a:r>
              <a:rPr lang="en-US" sz="4000" dirty="0" err="1">
                <a:solidFill>
                  <a:srgbClr val="FFFFFF"/>
                </a:solidFill>
                <a:latin typeface="+mj-lt"/>
                <a:ea typeface="Open Sans"/>
                <a:cs typeface="Aharoni" panose="02010803020104030203" pitchFamily="2" charset="-79"/>
                <a:sym typeface="Open Sans"/>
              </a:rPr>
              <a:t>nombre</a:t>
            </a:r>
            <a:r>
              <a:rPr lang="en-US" sz="4000" dirty="0">
                <a:solidFill>
                  <a:srgbClr val="FFFFFF"/>
                </a:solidFill>
                <a:latin typeface="+mj-lt"/>
                <a:ea typeface="Open Sans"/>
                <a:cs typeface="Aharoni" panose="02010803020104030203" pitchFamily="2" charset="-79"/>
                <a:sym typeface="Open Sans"/>
              </a:rPr>
              <a:t> </a:t>
            </a:r>
            <a:r>
              <a:rPr lang="en-US" sz="4000" dirty="0" err="1">
                <a:solidFill>
                  <a:srgbClr val="FFFFFF"/>
                </a:solidFill>
                <a:latin typeface="+mj-lt"/>
                <a:ea typeface="Open Sans"/>
                <a:cs typeface="Aharoni" panose="02010803020104030203" pitchFamily="2" charset="-79"/>
                <a:sym typeface="Open Sans"/>
              </a:rPr>
              <a:t>d’inscriptions</a:t>
            </a:r>
            <a:r>
              <a:rPr lang="en-US" sz="4000" dirty="0">
                <a:solidFill>
                  <a:srgbClr val="FFFFFF"/>
                </a:solidFill>
                <a:latin typeface="+mj-lt"/>
                <a:ea typeface="Open Sans"/>
                <a:cs typeface="Aharoni" panose="02010803020104030203" pitchFamily="2" charset="-79"/>
                <a:sym typeface="Open Sans"/>
              </a:rPr>
              <a:t> au </a:t>
            </a:r>
            <a:r>
              <a:rPr lang="en-US" sz="4000" dirty="0" err="1">
                <a:solidFill>
                  <a:srgbClr val="FFFFFF"/>
                </a:solidFill>
                <a:latin typeface="+mj-lt"/>
                <a:ea typeface="Open Sans"/>
                <a:cs typeface="Aharoni" panose="02010803020104030203" pitchFamily="2" charset="-79"/>
                <a:sym typeface="Open Sans"/>
              </a:rPr>
              <a:t>programme</a:t>
            </a:r>
            <a:r>
              <a:rPr lang="en-US" sz="4000" dirty="0">
                <a:solidFill>
                  <a:srgbClr val="FFFFFF"/>
                </a:solidFill>
                <a:latin typeface="+mj-lt"/>
                <a:ea typeface="Open Sans"/>
                <a:cs typeface="Aharoni" panose="02010803020104030203" pitchFamily="2" charset="-79"/>
                <a:sym typeface="Open Sans"/>
              </a:rPr>
              <a:t> de </a:t>
            </a:r>
            <a:r>
              <a:rPr lang="en-US" sz="4000" dirty="0" err="1">
                <a:solidFill>
                  <a:srgbClr val="FFFFFF"/>
                </a:solidFill>
                <a:latin typeface="+mj-lt"/>
                <a:ea typeface="Open Sans"/>
                <a:cs typeface="Aharoni" panose="02010803020104030203" pitchFamily="2" charset="-79"/>
                <a:sym typeface="Open Sans"/>
              </a:rPr>
              <a:t>fidèlité</a:t>
            </a:r>
            <a:r>
              <a:rPr lang="en-US" sz="4000" dirty="0">
                <a:solidFill>
                  <a:srgbClr val="FFFFFF"/>
                </a:solidFill>
                <a:latin typeface="+mj-lt"/>
                <a:ea typeface="Open Sans"/>
                <a:cs typeface="Aharoni" panose="02010803020104030203" pitchFamily="2" charset="-79"/>
                <a:sym typeface="Open Sans"/>
              </a:rPr>
              <a:t>.</a:t>
            </a:r>
          </a:p>
          <a:p>
            <a:pPr algn="l">
              <a:lnSpc>
                <a:spcPts val="3359"/>
              </a:lnSpc>
            </a:pPr>
            <a:endParaRPr lang="en-US" sz="2400" dirty="0">
              <a:solidFill>
                <a:srgbClr val="FFFFFF"/>
              </a:solidFill>
              <a:latin typeface="Open Sans"/>
              <a:ea typeface="Open Sans"/>
              <a:cs typeface="Open Sans"/>
              <a:sym typeface="Open Sans"/>
            </a:endParaRPr>
          </a:p>
          <a:p>
            <a:pPr algn="l">
              <a:lnSpc>
                <a:spcPts val="3359"/>
              </a:lnSpc>
            </a:pPr>
            <a:endParaRPr lang="en-US" sz="2400" dirty="0">
              <a:solidFill>
                <a:srgbClr val="FFFFFF"/>
              </a:solidFill>
              <a:latin typeface="Open Sans"/>
              <a:ea typeface="Open Sans"/>
              <a:cs typeface="Open Sans"/>
              <a:sym typeface="Open Sans"/>
            </a:endParaRPr>
          </a:p>
        </p:txBody>
      </p:sp>
      <p:sp>
        <p:nvSpPr>
          <p:cNvPr id="16" name="TextBox 16"/>
          <p:cNvSpPr txBox="1"/>
          <p:nvPr/>
        </p:nvSpPr>
        <p:spPr>
          <a:xfrm>
            <a:off x="309057" y="1312695"/>
            <a:ext cx="1936311" cy="1238250"/>
          </a:xfrm>
          <a:prstGeom prst="rect">
            <a:avLst/>
          </a:prstGeom>
        </p:spPr>
        <p:txBody>
          <a:bodyPr lIns="0" tIns="0" rIns="0" bIns="0" rtlCol="0" anchor="t">
            <a:spAutoFit/>
          </a:bodyPr>
          <a:lstStyle/>
          <a:p>
            <a:pPr marL="0" lvl="0" indent="0" algn="l">
              <a:lnSpc>
                <a:spcPts val="8400"/>
              </a:lnSpc>
              <a:spcBef>
                <a:spcPct val="0"/>
              </a:spcBef>
            </a:pPr>
            <a:r>
              <a:rPr lang="en-US" sz="7000" b="1" u="none" strike="noStrike" dirty="0">
                <a:solidFill>
                  <a:srgbClr val="FFFFFF"/>
                </a:solidFill>
                <a:latin typeface="Heading Now 71-78 Bold"/>
                <a:ea typeface="Heading Now 71-78 Bold"/>
                <a:cs typeface="Heading Now 71-78 Bold"/>
                <a:sym typeface="Heading Now 71-78 Bold"/>
              </a:rPr>
              <a:t>01</a:t>
            </a:r>
          </a:p>
        </p:txBody>
      </p:sp>
      <p:sp>
        <p:nvSpPr>
          <p:cNvPr id="17" name="Freeform 17"/>
          <p:cNvSpPr/>
          <p:nvPr/>
        </p:nvSpPr>
        <p:spPr>
          <a:xfrm rot="-7912410">
            <a:off x="13410885" y="6393389"/>
            <a:ext cx="8507209" cy="5729821"/>
          </a:xfrm>
          <a:custGeom>
            <a:avLst/>
            <a:gdLst/>
            <a:ahLst/>
            <a:cxnLst/>
            <a:rect l="l" t="t" r="r" b="b"/>
            <a:pathLst>
              <a:path w="8507209" h="5729821">
                <a:moveTo>
                  <a:pt x="0" y="0"/>
                </a:moveTo>
                <a:lnTo>
                  <a:pt x="8507209" y="0"/>
                </a:lnTo>
                <a:lnTo>
                  <a:pt x="8507209" y="5729822"/>
                </a:lnTo>
                <a:lnTo>
                  <a:pt x="0" y="5729822"/>
                </a:lnTo>
                <a:lnTo>
                  <a:pt x="0" y="0"/>
                </a:lnTo>
                <a:close/>
              </a:path>
            </a:pathLst>
          </a:custGeom>
          <a:blipFill>
            <a:blip r:embed="rId10"/>
            <a:stretch>
              <a:fillRect/>
            </a:stretch>
          </a:blipFill>
        </p:spPr>
      </p:sp>
      <p:sp>
        <p:nvSpPr>
          <p:cNvPr id="18" name="TextBox 17">
            <a:extLst>
              <a:ext uri="{FF2B5EF4-FFF2-40B4-BE49-F238E27FC236}">
                <a16:creationId xmlns:a16="http://schemas.microsoft.com/office/drawing/2014/main" id="{B30AFB73-C2D9-4FCB-8A97-611A1DE6C87A}"/>
              </a:ext>
            </a:extLst>
          </p:cNvPr>
          <p:cNvSpPr txBox="1"/>
          <p:nvPr/>
        </p:nvSpPr>
        <p:spPr>
          <a:xfrm>
            <a:off x="3243343" y="2624053"/>
            <a:ext cx="3474182" cy="646331"/>
          </a:xfrm>
          <a:prstGeom prst="rect">
            <a:avLst/>
          </a:prstGeom>
          <a:noFill/>
        </p:spPr>
        <p:txBody>
          <a:bodyPr wrap="square" rtlCol="0">
            <a:spAutoFit/>
          </a:bodyPr>
          <a:lstStyle/>
          <a:p>
            <a:r>
              <a:rPr lang="fr-FR" sz="3600" dirty="0">
                <a:solidFill>
                  <a:srgbClr val="C8652E"/>
                </a:solidFill>
                <a:latin typeface="Heading Now 71-78 Bold" panose="020B0604020202020204" charset="0"/>
              </a:rPr>
              <a:t>Contexte</a:t>
            </a:r>
            <a:r>
              <a:rPr lang="fr-FR" sz="3600" dirty="0">
                <a:latin typeface="Heading Now 71-78 Bold" panose="020B060402020202020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714488" y="2540493"/>
            <a:ext cx="14420637" cy="7746507"/>
          </a:xfrm>
          <a:custGeom>
            <a:avLst/>
            <a:gdLst/>
            <a:ahLst/>
            <a:cxnLst/>
            <a:rect l="l" t="t" r="r" b="b"/>
            <a:pathLst>
              <a:path w="14420637" h="7746507">
                <a:moveTo>
                  <a:pt x="0" y="0"/>
                </a:moveTo>
                <a:lnTo>
                  <a:pt x="14420637" y="0"/>
                </a:lnTo>
                <a:lnTo>
                  <a:pt x="14420637" y="7746507"/>
                </a:lnTo>
                <a:lnTo>
                  <a:pt x="0" y="7746507"/>
                </a:lnTo>
                <a:lnTo>
                  <a:pt x="0" y="0"/>
                </a:lnTo>
                <a:close/>
              </a:path>
            </a:pathLst>
          </a:custGeom>
          <a:blipFill>
            <a:blip r:embed="rId2">
              <a:alphaModFix amt="25000"/>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571750" y="2571750"/>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0"/>
            <a:ext cx="1743343" cy="10287000"/>
            <a:chOff x="0" y="0"/>
            <a:chExt cx="459152" cy="2709333"/>
          </a:xfrm>
        </p:grpSpPr>
        <p:sp>
          <p:nvSpPr>
            <p:cNvPr id="5" name="Freeform 5"/>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6" name="TextBox 6"/>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2376000" y="1372065"/>
            <a:ext cx="9042940" cy="1060803"/>
          </a:xfrm>
          <a:prstGeom prst="rect">
            <a:avLst/>
          </a:prstGeom>
        </p:spPr>
        <p:txBody>
          <a:bodyPr lIns="0" tIns="0" rIns="0" bIns="0" rtlCol="0" anchor="t">
            <a:spAutoFit/>
          </a:bodyPr>
          <a:lstStyle/>
          <a:p>
            <a:pPr algn="l">
              <a:lnSpc>
                <a:spcPts val="8669"/>
              </a:lnSpc>
            </a:pPr>
            <a:r>
              <a:rPr lang="en-US" sz="7224" b="1" dirty="0">
                <a:solidFill>
                  <a:srgbClr val="FFFFFF"/>
                </a:solidFill>
                <a:latin typeface="Heading Now 71-78 Bold"/>
                <a:ea typeface="Heading Now 71-78 Bold"/>
                <a:cs typeface="Heading Now 71-78 Bold"/>
                <a:sym typeface="Heading Now 71-78 Bold"/>
              </a:rPr>
              <a:t>Introduction</a:t>
            </a:r>
          </a:p>
        </p:txBody>
      </p:sp>
      <p:grpSp>
        <p:nvGrpSpPr>
          <p:cNvPr id="8" name="Group 8"/>
          <p:cNvGrpSpPr/>
          <p:nvPr/>
        </p:nvGrpSpPr>
        <p:grpSpPr>
          <a:xfrm rot="2926539">
            <a:off x="10660820" y="2311855"/>
            <a:ext cx="7223431" cy="7308215"/>
            <a:chOff x="0" y="0"/>
            <a:chExt cx="9631241" cy="9744286"/>
          </a:xfrm>
        </p:grpSpPr>
        <p:sp>
          <p:nvSpPr>
            <p:cNvPr id="9" name="Freeform 9"/>
            <p:cNvSpPr/>
            <p:nvPr/>
          </p:nvSpPr>
          <p:spPr>
            <a:xfrm flipH="1">
              <a:off x="0" y="1060515"/>
              <a:ext cx="8795717" cy="8683771"/>
            </a:xfrm>
            <a:custGeom>
              <a:avLst/>
              <a:gdLst/>
              <a:ahLst/>
              <a:cxnLst/>
              <a:rect l="l" t="t" r="r" b="b"/>
              <a:pathLst>
                <a:path w="8795717" h="8683771">
                  <a:moveTo>
                    <a:pt x="8795717" y="0"/>
                  </a:moveTo>
                  <a:lnTo>
                    <a:pt x="0" y="0"/>
                  </a:lnTo>
                  <a:lnTo>
                    <a:pt x="0" y="8683771"/>
                  </a:lnTo>
                  <a:lnTo>
                    <a:pt x="8795717" y="8683771"/>
                  </a:lnTo>
                  <a:lnTo>
                    <a:pt x="8795717"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sp>
        <p:sp>
          <p:nvSpPr>
            <p:cNvPr id="10" name="Freeform 10"/>
            <p:cNvSpPr/>
            <p:nvPr/>
          </p:nvSpPr>
          <p:spPr>
            <a:xfrm flipH="1">
              <a:off x="835524" y="0"/>
              <a:ext cx="8795717" cy="8683771"/>
            </a:xfrm>
            <a:custGeom>
              <a:avLst/>
              <a:gdLst/>
              <a:ahLst/>
              <a:cxnLst/>
              <a:rect l="l" t="t" r="r" b="b"/>
              <a:pathLst>
                <a:path w="8795717" h="8683771">
                  <a:moveTo>
                    <a:pt x="8795717" y="0"/>
                  </a:moveTo>
                  <a:lnTo>
                    <a:pt x="0" y="0"/>
                  </a:lnTo>
                  <a:lnTo>
                    <a:pt x="0" y="8683771"/>
                  </a:lnTo>
                  <a:lnTo>
                    <a:pt x="8795717" y="8683771"/>
                  </a:lnTo>
                  <a:lnTo>
                    <a:pt x="8795717" y="0"/>
                  </a:lnTo>
                  <a:close/>
                </a:path>
              </a:pathLst>
            </a:custGeom>
            <a:blipFill>
              <a:blip r:embed="rId8">
                <a:extLst>
                  <a:ext uri="{96DAC541-7B7A-43D3-8B79-37D633B846F1}">
                    <asvg:svgBlip xmlns:asvg="http://schemas.microsoft.com/office/drawing/2016/SVG/main" r:embed="rId9"/>
                  </a:ext>
                </a:extLst>
              </a:blip>
              <a:stretch>
                <a:fillRect/>
              </a:stretch>
            </a:blipFill>
          </p:spPr>
        </p:sp>
      </p:grpSp>
      <p:sp>
        <p:nvSpPr>
          <p:cNvPr id="11" name="TextBox 11"/>
          <p:cNvSpPr txBox="1"/>
          <p:nvPr/>
        </p:nvSpPr>
        <p:spPr>
          <a:xfrm>
            <a:off x="14781981" y="584201"/>
            <a:ext cx="720923"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SERVICE</a:t>
            </a:r>
          </a:p>
        </p:txBody>
      </p:sp>
      <p:sp>
        <p:nvSpPr>
          <p:cNvPr id="12" name="TextBox 12"/>
          <p:cNvSpPr txBox="1"/>
          <p:nvPr/>
        </p:nvSpPr>
        <p:spPr>
          <a:xfrm>
            <a:off x="16395576" y="584201"/>
            <a:ext cx="863724"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CONTACT</a:t>
            </a:r>
          </a:p>
        </p:txBody>
      </p:sp>
      <p:sp>
        <p:nvSpPr>
          <p:cNvPr id="13" name="TextBox 13"/>
          <p:cNvSpPr txBox="1"/>
          <p:nvPr/>
        </p:nvSpPr>
        <p:spPr>
          <a:xfrm>
            <a:off x="13139951" y="584201"/>
            <a:ext cx="636463"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ABOUT</a:t>
            </a:r>
          </a:p>
        </p:txBody>
      </p:sp>
      <p:sp>
        <p:nvSpPr>
          <p:cNvPr id="14" name="TextBox 14"/>
          <p:cNvSpPr txBox="1"/>
          <p:nvPr/>
        </p:nvSpPr>
        <p:spPr>
          <a:xfrm>
            <a:off x="2376000" y="584201"/>
            <a:ext cx="1095301"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YOUR LOGO</a:t>
            </a:r>
          </a:p>
        </p:txBody>
      </p:sp>
      <p:sp>
        <p:nvSpPr>
          <p:cNvPr id="15" name="TextBox 15"/>
          <p:cNvSpPr txBox="1"/>
          <p:nvPr/>
        </p:nvSpPr>
        <p:spPr>
          <a:xfrm>
            <a:off x="3312247" y="3482463"/>
            <a:ext cx="9379740" cy="842475"/>
          </a:xfrm>
          <a:prstGeom prst="rect">
            <a:avLst/>
          </a:prstGeom>
        </p:spPr>
        <p:txBody>
          <a:bodyPr wrap="square" lIns="0" tIns="0" rIns="0" bIns="0" rtlCol="0" anchor="t">
            <a:spAutoFit/>
          </a:bodyPr>
          <a:lstStyle/>
          <a:p>
            <a:pPr algn="l">
              <a:lnSpc>
                <a:spcPts val="3359"/>
              </a:lnSpc>
            </a:pPr>
            <a:endParaRPr lang="en-US" sz="2400" dirty="0">
              <a:solidFill>
                <a:srgbClr val="FFFFFF"/>
              </a:solidFill>
              <a:latin typeface="Open Sans"/>
              <a:ea typeface="Open Sans"/>
              <a:cs typeface="Open Sans"/>
              <a:sym typeface="Open Sans"/>
            </a:endParaRPr>
          </a:p>
          <a:p>
            <a:pPr algn="l">
              <a:lnSpc>
                <a:spcPts val="3359"/>
              </a:lnSpc>
            </a:pPr>
            <a:endParaRPr lang="en-US" sz="2400" dirty="0">
              <a:solidFill>
                <a:srgbClr val="FFFFFF"/>
              </a:solidFill>
              <a:latin typeface="Open Sans"/>
              <a:ea typeface="Open Sans"/>
              <a:cs typeface="Open Sans"/>
              <a:sym typeface="Open Sans"/>
            </a:endParaRPr>
          </a:p>
        </p:txBody>
      </p:sp>
      <p:sp>
        <p:nvSpPr>
          <p:cNvPr id="16" name="TextBox 16"/>
          <p:cNvSpPr txBox="1"/>
          <p:nvPr/>
        </p:nvSpPr>
        <p:spPr>
          <a:xfrm>
            <a:off x="309057" y="1312695"/>
            <a:ext cx="1936311" cy="1238250"/>
          </a:xfrm>
          <a:prstGeom prst="rect">
            <a:avLst/>
          </a:prstGeom>
        </p:spPr>
        <p:txBody>
          <a:bodyPr lIns="0" tIns="0" rIns="0" bIns="0" rtlCol="0" anchor="t">
            <a:spAutoFit/>
          </a:bodyPr>
          <a:lstStyle/>
          <a:p>
            <a:pPr marL="0" lvl="0" indent="0" algn="l">
              <a:lnSpc>
                <a:spcPts val="8400"/>
              </a:lnSpc>
              <a:spcBef>
                <a:spcPct val="0"/>
              </a:spcBef>
            </a:pPr>
            <a:r>
              <a:rPr lang="en-US" sz="7000" b="1" u="none" strike="noStrike" dirty="0">
                <a:solidFill>
                  <a:srgbClr val="FFFFFF"/>
                </a:solidFill>
                <a:latin typeface="Heading Now 71-78 Bold"/>
                <a:ea typeface="Heading Now 71-78 Bold"/>
                <a:cs typeface="Heading Now 71-78 Bold"/>
                <a:sym typeface="Heading Now 71-78 Bold"/>
              </a:rPr>
              <a:t>01</a:t>
            </a:r>
          </a:p>
        </p:txBody>
      </p:sp>
      <p:sp>
        <p:nvSpPr>
          <p:cNvPr id="17" name="Freeform 17"/>
          <p:cNvSpPr/>
          <p:nvPr/>
        </p:nvSpPr>
        <p:spPr>
          <a:xfrm rot="-7912410">
            <a:off x="13410885" y="6393389"/>
            <a:ext cx="8507209" cy="5729821"/>
          </a:xfrm>
          <a:custGeom>
            <a:avLst/>
            <a:gdLst/>
            <a:ahLst/>
            <a:cxnLst/>
            <a:rect l="l" t="t" r="r" b="b"/>
            <a:pathLst>
              <a:path w="8507209" h="5729821">
                <a:moveTo>
                  <a:pt x="0" y="0"/>
                </a:moveTo>
                <a:lnTo>
                  <a:pt x="8507209" y="0"/>
                </a:lnTo>
                <a:lnTo>
                  <a:pt x="8507209" y="5729822"/>
                </a:lnTo>
                <a:lnTo>
                  <a:pt x="0" y="5729822"/>
                </a:lnTo>
                <a:lnTo>
                  <a:pt x="0" y="0"/>
                </a:lnTo>
                <a:close/>
              </a:path>
            </a:pathLst>
          </a:custGeom>
          <a:blipFill>
            <a:blip r:embed="rId10"/>
            <a:stretch>
              <a:fillRect/>
            </a:stretch>
          </a:blipFill>
        </p:spPr>
      </p:sp>
      <p:sp>
        <p:nvSpPr>
          <p:cNvPr id="18" name="TextBox 17">
            <a:extLst>
              <a:ext uri="{FF2B5EF4-FFF2-40B4-BE49-F238E27FC236}">
                <a16:creationId xmlns:a16="http://schemas.microsoft.com/office/drawing/2014/main" id="{B30AFB73-C2D9-4FCB-8A97-611A1DE6C87A}"/>
              </a:ext>
            </a:extLst>
          </p:cNvPr>
          <p:cNvSpPr txBox="1"/>
          <p:nvPr/>
        </p:nvSpPr>
        <p:spPr>
          <a:xfrm>
            <a:off x="3243343" y="2624053"/>
            <a:ext cx="4177804" cy="646331"/>
          </a:xfrm>
          <a:prstGeom prst="rect">
            <a:avLst/>
          </a:prstGeom>
          <a:noFill/>
        </p:spPr>
        <p:txBody>
          <a:bodyPr wrap="square" rtlCol="0">
            <a:spAutoFit/>
          </a:bodyPr>
          <a:lstStyle/>
          <a:p>
            <a:r>
              <a:rPr lang="fr-FR" sz="3600" dirty="0">
                <a:solidFill>
                  <a:srgbClr val="C8652E"/>
                </a:solidFill>
                <a:latin typeface="Heading Now 71-78 Bold" panose="020B0604020202020204" charset="0"/>
              </a:rPr>
              <a:t>Problématique</a:t>
            </a:r>
            <a:r>
              <a:rPr lang="fr-FR" sz="3600" dirty="0">
                <a:latin typeface="Heading Now 71-78 Bold" panose="020B0604020202020204" charset="0"/>
              </a:rPr>
              <a:t> </a:t>
            </a:r>
          </a:p>
        </p:txBody>
      </p:sp>
      <p:sp>
        <p:nvSpPr>
          <p:cNvPr id="19" name="TextBox 18">
            <a:extLst>
              <a:ext uri="{FF2B5EF4-FFF2-40B4-BE49-F238E27FC236}">
                <a16:creationId xmlns:a16="http://schemas.microsoft.com/office/drawing/2014/main" id="{2137B33F-211C-4278-A3CF-2EC4ADDBDB4A}"/>
              </a:ext>
            </a:extLst>
          </p:cNvPr>
          <p:cNvSpPr txBox="1"/>
          <p:nvPr/>
        </p:nvSpPr>
        <p:spPr>
          <a:xfrm>
            <a:off x="3312247" y="3482462"/>
            <a:ext cx="9829800" cy="4955203"/>
          </a:xfrm>
          <a:prstGeom prst="rect">
            <a:avLst/>
          </a:prstGeom>
          <a:noFill/>
        </p:spPr>
        <p:txBody>
          <a:bodyPr wrap="square" rtlCol="0">
            <a:spAutoFit/>
          </a:bodyPr>
          <a:lstStyle/>
          <a:p>
            <a:r>
              <a:rPr lang="fr-FR" sz="4000" b="1" dirty="0">
                <a:solidFill>
                  <a:schemeClr val="bg1"/>
                </a:solidFill>
              </a:rPr>
              <a:t>NAL souhaite mettre en place un système d’information décisionnel afin de :</a:t>
            </a:r>
          </a:p>
          <a:p>
            <a:endParaRPr lang="fr-FR" sz="3600" dirty="0">
              <a:solidFill>
                <a:schemeClr val="accent6">
                  <a:lumMod val="50000"/>
                </a:schemeClr>
              </a:solidFill>
            </a:endParaRPr>
          </a:p>
          <a:p>
            <a:r>
              <a:rPr lang="fr-FR" sz="4000" dirty="0">
                <a:solidFill>
                  <a:schemeClr val="accent6">
                    <a:lumMod val="50000"/>
                  </a:schemeClr>
                </a:solidFill>
              </a:rPr>
              <a:t>Exploiter des données hétérogènes provenant de sources diverses pour analyser l’impact de la campagne de promotion sur le programme de fidélité et le comportement de ses clients afin de prendre des décisions  futures.</a:t>
            </a:r>
          </a:p>
        </p:txBody>
      </p:sp>
    </p:spTree>
    <p:extLst>
      <p:ext uri="{BB962C8B-B14F-4D97-AF65-F5344CB8AC3E}">
        <p14:creationId xmlns:p14="http://schemas.microsoft.com/office/powerpoint/2010/main" val="1917279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5" name="Freeform 5"/>
          <p:cNvSpPr/>
          <p:nvPr/>
        </p:nvSpPr>
        <p:spPr>
          <a:xfrm rot="5400000">
            <a:off x="-2571750" y="2571750"/>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0" y="0"/>
            <a:ext cx="1743343" cy="10287000"/>
            <a:chOff x="0" y="0"/>
            <a:chExt cx="459152" cy="2709333"/>
          </a:xfrm>
        </p:grpSpPr>
        <p:sp>
          <p:nvSpPr>
            <p:cNvPr id="7" name="Freeform 7"/>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8" name="TextBox 8"/>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2376000" y="2128185"/>
            <a:ext cx="9225305" cy="1419225"/>
          </a:xfrm>
          <a:prstGeom prst="rect">
            <a:avLst/>
          </a:prstGeom>
        </p:spPr>
        <p:txBody>
          <a:bodyPr lIns="0" tIns="0" rIns="0" bIns="0" rtlCol="0" anchor="t">
            <a:spAutoFit/>
          </a:bodyPr>
          <a:lstStyle/>
          <a:p>
            <a:pPr algn="l">
              <a:lnSpc>
                <a:spcPts val="9600"/>
              </a:lnSpc>
            </a:pPr>
            <a:r>
              <a:rPr lang="en-US" sz="8000" b="1" dirty="0">
                <a:solidFill>
                  <a:srgbClr val="FFFFFF"/>
                </a:solidFill>
                <a:latin typeface="Heading Now 71-78 Bold"/>
                <a:ea typeface="Heading Now 71-78 Bold"/>
                <a:cs typeface="Heading Now 71-78 Bold"/>
                <a:sym typeface="Heading Now 71-78 Bold"/>
              </a:rPr>
              <a:t>OBJECTIFS BI</a:t>
            </a:r>
          </a:p>
        </p:txBody>
      </p:sp>
      <p:sp>
        <p:nvSpPr>
          <p:cNvPr id="10" name="TextBox 10"/>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pic>
        <p:nvPicPr>
          <p:cNvPr id="1038" name="Picture 14" descr="3d Personnes - Homme, Personne, Avec Un Objectif Et Des Flèches Banque  D'Images et Photos Libres De Droits. Image 15117918">
            <a:extLst>
              <a:ext uri="{FF2B5EF4-FFF2-40B4-BE49-F238E27FC236}">
                <a16:creationId xmlns:a16="http://schemas.microsoft.com/office/drawing/2014/main" id="{4C25B149-BE83-421C-A780-40EB0B953B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75" y="4381500"/>
            <a:ext cx="7105650" cy="53292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8327349">
            <a:off x="13005695" y="-592222"/>
            <a:ext cx="8507209" cy="5729821"/>
          </a:xfrm>
          <a:custGeom>
            <a:avLst/>
            <a:gdLst/>
            <a:ahLst/>
            <a:cxnLst/>
            <a:rect l="l" t="t" r="r" b="b"/>
            <a:pathLst>
              <a:path w="8507209" h="5729821">
                <a:moveTo>
                  <a:pt x="0" y="0"/>
                </a:moveTo>
                <a:lnTo>
                  <a:pt x="8507210" y="0"/>
                </a:lnTo>
                <a:lnTo>
                  <a:pt x="8507210" y="5729822"/>
                </a:lnTo>
                <a:lnTo>
                  <a:pt x="0" y="5729822"/>
                </a:lnTo>
                <a:lnTo>
                  <a:pt x="0" y="0"/>
                </a:lnTo>
                <a:close/>
              </a:path>
            </a:pathLst>
          </a:custGeom>
          <a:blipFill>
            <a:blip r:embed="rId2"/>
            <a:stretch>
              <a:fillRect/>
            </a:stretch>
          </a:blipFill>
        </p:spPr>
      </p:sp>
      <p:sp>
        <p:nvSpPr>
          <p:cNvPr id="3" name="Freeform 3"/>
          <p:cNvSpPr/>
          <p:nvPr/>
        </p:nvSpPr>
        <p:spPr>
          <a:xfrm>
            <a:off x="10626"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643676" y="2878173"/>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0" y="0"/>
            <a:ext cx="1743343" cy="10287000"/>
            <a:chOff x="0" y="0"/>
            <a:chExt cx="459152" cy="2709333"/>
          </a:xfrm>
        </p:grpSpPr>
        <p:sp>
          <p:nvSpPr>
            <p:cNvPr id="6" name="Freeform 6"/>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7" name="TextBox 7"/>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458424">
            <a:off x="12809336" y="1669589"/>
            <a:ext cx="5182388" cy="5243216"/>
            <a:chOff x="0" y="0"/>
            <a:chExt cx="6909851" cy="6990954"/>
          </a:xfrm>
        </p:grpSpPr>
        <p:sp>
          <p:nvSpPr>
            <p:cNvPr id="9" name="Freeform 9"/>
            <p:cNvSpPr/>
            <p:nvPr/>
          </p:nvSpPr>
          <p:spPr>
            <a:xfrm flipH="1">
              <a:off x="0" y="760857"/>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10" name="Freeform 10"/>
            <p:cNvSpPr/>
            <p:nvPr/>
          </p:nvSpPr>
          <p:spPr>
            <a:xfrm flipH="1">
              <a:off x="599440" y="0"/>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9">
                <a:extLst>
                  <a:ext uri="{96DAC541-7B7A-43D3-8B79-37D633B846F1}">
                    <asvg:svgBlip xmlns:asvg="http://schemas.microsoft.com/office/drawing/2016/SVG/main" r:embed="rId10"/>
                  </a:ext>
                </a:extLst>
              </a:blip>
              <a:stretch>
                <a:fillRect/>
              </a:stretch>
            </a:blipFill>
          </p:spPr>
        </p:sp>
      </p:grpSp>
      <p:sp>
        <p:nvSpPr>
          <p:cNvPr id="11" name="TextBox 11"/>
          <p:cNvSpPr txBox="1"/>
          <p:nvPr/>
        </p:nvSpPr>
        <p:spPr>
          <a:xfrm>
            <a:off x="2499824" y="853464"/>
            <a:ext cx="9225305" cy="2638425"/>
          </a:xfrm>
          <a:prstGeom prst="rect">
            <a:avLst/>
          </a:prstGeom>
        </p:spPr>
        <p:txBody>
          <a:bodyPr lIns="0" tIns="0" rIns="0" bIns="0" rtlCol="0" anchor="t">
            <a:spAutoFit/>
          </a:bodyPr>
          <a:lstStyle/>
          <a:p>
            <a:pPr algn="l">
              <a:lnSpc>
                <a:spcPts val="9600"/>
              </a:lnSpc>
            </a:pPr>
            <a:r>
              <a:rPr lang="en-US" sz="8000" b="1">
                <a:solidFill>
                  <a:srgbClr val="FFFFFF"/>
                </a:solidFill>
                <a:latin typeface="Heading Now 71-78 Bold"/>
                <a:ea typeface="Heading Now 71-78 Bold"/>
                <a:cs typeface="Heading Now 71-78 Bold"/>
                <a:sym typeface="Heading Now 71-78 Bold"/>
              </a:rPr>
              <a:t>OBJECTIFS STRATEGIQUES</a:t>
            </a:r>
          </a:p>
        </p:txBody>
      </p:sp>
      <p:sp>
        <p:nvSpPr>
          <p:cNvPr id="12" name="TextBox 12"/>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3" name="TextBox 13"/>
          <p:cNvSpPr txBox="1"/>
          <p:nvPr/>
        </p:nvSpPr>
        <p:spPr>
          <a:xfrm>
            <a:off x="2371152" y="3898878"/>
            <a:ext cx="10826226" cy="5320944"/>
          </a:xfrm>
          <a:prstGeom prst="rect">
            <a:avLst/>
          </a:prstGeom>
        </p:spPr>
        <p:txBody>
          <a:bodyPr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Mesurer l’impact de la campagne promotionnelle 2018</a:t>
            </a:r>
            <a:r>
              <a:rPr kumimoji="0" lang="fr-FR" altLang="fr-FR" sz="4000" b="0" i="0" u="none" strike="noStrike" cap="none" normalizeH="0" baseline="0" dirty="0">
                <a:ln>
                  <a:noFill/>
                </a:ln>
                <a:solidFill>
                  <a:schemeClr val="accent6">
                    <a:lumMod val="50000"/>
                  </a:schemeClr>
                </a:solidFill>
                <a:effectLst/>
              </a:rPr>
              <a:t> </a:t>
            </a:r>
            <a:r>
              <a:rPr kumimoji="0" lang="fr-FR" altLang="fr-FR" sz="4000" b="0" i="0" u="none" strike="noStrike" cap="none" normalizeH="0" baseline="0" dirty="0">
                <a:ln>
                  <a:noFill/>
                </a:ln>
                <a:solidFill>
                  <a:schemeClr val="bg1"/>
                </a:solidFill>
                <a:effectLst/>
              </a:rPr>
              <a:t>sur la performance globale du programme de fidélité.</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Identifier les régions/provinces</a:t>
            </a:r>
            <a:r>
              <a:rPr kumimoji="0" lang="fr-FR" altLang="fr-FR" sz="4000" b="0" i="0" u="none" strike="noStrike" cap="none" normalizeH="0" baseline="0" dirty="0">
                <a:ln>
                  <a:noFill/>
                </a:ln>
                <a:solidFill>
                  <a:schemeClr val="accent6">
                    <a:lumMod val="50000"/>
                  </a:schemeClr>
                </a:solidFill>
                <a:effectLst/>
              </a:rPr>
              <a:t> </a:t>
            </a:r>
            <a:r>
              <a:rPr kumimoji="0" lang="fr-FR" altLang="fr-FR" sz="4000" b="0" i="0" u="none" strike="noStrike" cap="none" normalizeH="0" baseline="0" dirty="0">
                <a:ln>
                  <a:noFill/>
                </a:ln>
                <a:solidFill>
                  <a:schemeClr val="bg1"/>
                </a:solidFill>
                <a:effectLst/>
              </a:rPr>
              <a:t>générant le plus fort trafic aérien pour orienter les actions marketing.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Aider à la prise de décision stratégique</a:t>
            </a:r>
            <a:r>
              <a:rPr kumimoji="0" lang="fr-FR" altLang="fr-FR" sz="4000" b="0" i="0" u="none" strike="noStrike" cap="none" normalizeH="0" baseline="0" dirty="0">
                <a:ln>
                  <a:noFill/>
                </a:ln>
                <a:solidFill>
                  <a:schemeClr val="accent6">
                    <a:lumMod val="50000"/>
                  </a:schemeClr>
                </a:solidFill>
                <a:effectLst/>
              </a:rPr>
              <a:t> </a:t>
            </a:r>
            <a:r>
              <a:rPr kumimoji="0" lang="fr-FR" altLang="fr-FR" sz="4000" b="0" i="0" u="none" strike="noStrike" cap="none" normalizeH="0" baseline="0" dirty="0">
                <a:ln>
                  <a:noFill/>
                </a:ln>
                <a:solidFill>
                  <a:schemeClr val="bg1"/>
                </a:solidFill>
                <a:effectLst/>
              </a:rPr>
              <a:t>pour optimiser le programme et les futures campagnes.</a:t>
            </a:r>
          </a:p>
          <a:p>
            <a:pPr algn="l">
              <a:lnSpc>
                <a:spcPts val="3346"/>
              </a:lnSpc>
              <a:spcBef>
                <a:spcPct val="0"/>
              </a:spcBef>
            </a:pPr>
            <a:endParaRPr lang="en-US" sz="2390" b="1" dirty="0">
              <a:solidFill>
                <a:srgbClr val="FFFFFF"/>
              </a:solidFill>
              <a:latin typeface="Open Sans Bold"/>
              <a:ea typeface="Open Sans Bold"/>
              <a:cs typeface="Open Sans Bold"/>
              <a:sym typeface="Open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8327349">
            <a:off x="13119996" y="-592223"/>
            <a:ext cx="8507209" cy="5729821"/>
          </a:xfrm>
          <a:custGeom>
            <a:avLst/>
            <a:gdLst/>
            <a:ahLst/>
            <a:cxnLst/>
            <a:rect l="l" t="t" r="r" b="b"/>
            <a:pathLst>
              <a:path w="8507209" h="5729821">
                <a:moveTo>
                  <a:pt x="0" y="0"/>
                </a:moveTo>
                <a:lnTo>
                  <a:pt x="8507210" y="0"/>
                </a:lnTo>
                <a:lnTo>
                  <a:pt x="8507210" y="5729822"/>
                </a:lnTo>
                <a:lnTo>
                  <a:pt x="0" y="5729822"/>
                </a:lnTo>
                <a:lnTo>
                  <a:pt x="0" y="0"/>
                </a:lnTo>
                <a:close/>
              </a:path>
            </a:pathLst>
          </a:custGeom>
          <a:blipFill>
            <a:blip r:embed="rId2"/>
            <a:stretch>
              <a:fillRect/>
            </a:stretch>
          </a:blipFill>
        </p:spPr>
      </p:sp>
      <p:sp>
        <p:nvSpPr>
          <p:cNvPr id="3" name="Freeform 3"/>
          <p:cNvSpPr/>
          <p:nvPr/>
        </p:nvSpPr>
        <p:spPr>
          <a:xfrm>
            <a:off x="10626"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643676" y="2878173"/>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0" y="0"/>
            <a:ext cx="1743343" cy="10287000"/>
            <a:chOff x="0" y="0"/>
            <a:chExt cx="459152" cy="2709333"/>
          </a:xfrm>
        </p:grpSpPr>
        <p:sp>
          <p:nvSpPr>
            <p:cNvPr id="6" name="Freeform 6"/>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7" name="TextBox 7"/>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458424">
            <a:off x="12809336" y="1669589"/>
            <a:ext cx="5182388" cy="5243216"/>
            <a:chOff x="0" y="0"/>
            <a:chExt cx="6909851" cy="6990954"/>
          </a:xfrm>
        </p:grpSpPr>
        <p:sp>
          <p:nvSpPr>
            <p:cNvPr id="9" name="Freeform 9"/>
            <p:cNvSpPr/>
            <p:nvPr/>
          </p:nvSpPr>
          <p:spPr>
            <a:xfrm flipH="1">
              <a:off x="0" y="760857"/>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10" name="Freeform 10"/>
            <p:cNvSpPr/>
            <p:nvPr/>
          </p:nvSpPr>
          <p:spPr>
            <a:xfrm flipH="1">
              <a:off x="599440" y="0"/>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9">
                <a:extLst>
                  <a:ext uri="{96DAC541-7B7A-43D3-8B79-37D633B846F1}">
                    <asvg:svgBlip xmlns:asvg="http://schemas.microsoft.com/office/drawing/2016/SVG/main" r:embed="rId10"/>
                  </a:ext>
                </a:extLst>
              </a:blip>
              <a:stretch>
                <a:fillRect/>
              </a:stretch>
            </a:blipFill>
          </p:spPr>
        </p:sp>
      </p:grpSp>
      <p:sp>
        <p:nvSpPr>
          <p:cNvPr id="11" name="TextBox 11"/>
          <p:cNvSpPr txBox="1"/>
          <p:nvPr/>
        </p:nvSpPr>
        <p:spPr>
          <a:xfrm>
            <a:off x="2499824" y="853464"/>
            <a:ext cx="9225305" cy="2638425"/>
          </a:xfrm>
          <a:prstGeom prst="rect">
            <a:avLst/>
          </a:prstGeom>
        </p:spPr>
        <p:txBody>
          <a:bodyPr lIns="0" tIns="0" rIns="0" bIns="0" rtlCol="0" anchor="t">
            <a:spAutoFit/>
          </a:bodyPr>
          <a:lstStyle/>
          <a:p>
            <a:pPr algn="l">
              <a:lnSpc>
                <a:spcPts val="9600"/>
              </a:lnSpc>
            </a:pPr>
            <a:r>
              <a:rPr lang="en-US" sz="8000" b="1" dirty="0">
                <a:solidFill>
                  <a:srgbClr val="FFFFFF"/>
                </a:solidFill>
                <a:latin typeface="Heading Now 71-78 Bold"/>
                <a:ea typeface="Heading Now 71-78 Bold"/>
                <a:cs typeface="Heading Now 71-78 Bold"/>
                <a:sym typeface="Heading Now 71-78 Bold"/>
              </a:rPr>
              <a:t>OBJECTIFS ANALYTIQUES</a:t>
            </a:r>
          </a:p>
        </p:txBody>
      </p:sp>
      <p:sp>
        <p:nvSpPr>
          <p:cNvPr id="12" name="TextBox 12"/>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3" name="TextBox 13"/>
          <p:cNvSpPr txBox="1"/>
          <p:nvPr/>
        </p:nvSpPr>
        <p:spPr>
          <a:xfrm>
            <a:off x="2054206" y="3583623"/>
            <a:ext cx="11451854" cy="6119176"/>
          </a:xfrm>
          <a:prstGeom prst="rect">
            <a:avLst/>
          </a:prstGeom>
        </p:spPr>
        <p:txBody>
          <a:bodyPr lIns="0" tIns="0" rIns="0" bIns="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Évolution des adhésions</a:t>
            </a:r>
            <a:r>
              <a:rPr kumimoji="0" lang="fr-FR" altLang="fr-FR" sz="4000" b="0" i="0" u="none" strike="noStrike" cap="none" normalizeH="0" baseline="0" dirty="0">
                <a:ln>
                  <a:noFill/>
                </a:ln>
                <a:solidFill>
                  <a:schemeClr val="accent6">
                    <a:lumMod val="50000"/>
                  </a:schemeClr>
                </a:solidFill>
                <a:effectLst/>
              </a:rPr>
              <a:t> : </a:t>
            </a:r>
            <a:r>
              <a:rPr kumimoji="0" lang="fr-FR" altLang="fr-FR" sz="4000" b="0" i="0" u="none" strike="noStrike" cap="none" normalizeH="0" baseline="0" dirty="0">
                <a:ln>
                  <a:noFill/>
                </a:ln>
                <a:solidFill>
                  <a:schemeClr val="bg1"/>
                </a:solidFill>
                <a:effectLst/>
              </a:rPr>
              <a:t>analyser les inscriptions avant, pendant et après la campagne promotionnelle.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Comparaison des inscriptions</a:t>
            </a:r>
            <a:r>
              <a:rPr kumimoji="0" lang="fr-FR" altLang="fr-FR" sz="4000" b="0" i="0" u="none" strike="noStrike" cap="none" normalizeH="0" baseline="0" dirty="0">
                <a:ln>
                  <a:noFill/>
                </a:ln>
                <a:solidFill>
                  <a:schemeClr val="accent6">
                    <a:lumMod val="50000"/>
                  </a:schemeClr>
                </a:solidFill>
                <a:effectLst/>
              </a:rPr>
              <a:t> : </a:t>
            </a:r>
            <a:r>
              <a:rPr kumimoji="0" lang="fr-FR" altLang="fr-FR" sz="4000" b="0" i="0" u="none" strike="noStrike" cap="none" normalizeH="0" baseline="0" dirty="0">
                <a:ln>
                  <a:noFill/>
                </a:ln>
                <a:solidFill>
                  <a:schemeClr val="bg1"/>
                </a:solidFill>
                <a:effectLst/>
              </a:rPr>
              <a:t>brutes vs nettes, incluant annulations et modifications.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accent6">
                    <a:lumMod val="50000"/>
                  </a:schemeClr>
                </a:solidFill>
                <a:effectLst/>
              </a:rPr>
              <a:t>Segmentation démographique</a:t>
            </a:r>
            <a:r>
              <a:rPr kumimoji="0" lang="fr-FR" altLang="fr-FR" sz="4000" b="0" i="0" u="none" strike="noStrike" cap="none" normalizeH="0" baseline="0" dirty="0">
                <a:ln>
                  <a:noFill/>
                </a:ln>
                <a:solidFill>
                  <a:schemeClr val="accent6">
                    <a:lumMod val="50000"/>
                  </a:schemeClr>
                </a:solidFill>
                <a:effectLst/>
              </a:rPr>
              <a:t> : </a:t>
            </a:r>
            <a:r>
              <a:rPr kumimoji="0" lang="fr-FR" altLang="fr-FR" sz="4000" b="0" i="0" u="none" strike="noStrike" cap="none" normalizeH="0" baseline="0" dirty="0">
                <a:ln>
                  <a:noFill/>
                </a:ln>
                <a:solidFill>
                  <a:schemeClr val="bg1"/>
                </a:solidFill>
                <a:effectLst/>
              </a:rPr>
              <a:t>évaluer la réussite selon âge, sexe, province,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4000" b="1" i="0" u="none" strike="noStrike" cap="none" normalizeH="0" baseline="0" dirty="0">
                <a:ln>
                  <a:noFill/>
                </a:ln>
                <a:solidFill>
                  <a:schemeClr val="bg1"/>
                </a:solidFill>
                <a:effectLst/>
              </a:rPr>
              <a:t>Impact sur les réservations saisonnières</a:t>
            </a:r>
            <a:r>
              <a:rPr kumimoji="0" lang="fr-FR" altLang="fr-FR" sz="4000" b="0" i="0" u="none" strike="noStrike" cap="none" normalizeH="0" baseline="0" dirty="0">
                <a:ln>
                  <a:noFill/>
                </a:ln>
                <a:solidFill>
                  <a:schemeClr val="bg1"/>
                </a:solidFill>
                <a:effectLst/>
              </a:rPr>
              <a:t> : mesurer l’effet de la campagne sur la saison estivale.</a:t>
            </a:r>
          </a:p>
          <a:p>
            <a:pPr algn="l">
              <a:lnSpc>
                <a:spcPts val="3339"/>
              </a:lnSpc>
            </a:pPr>
            <a:endParaRPr lang="en-US" sz="2387" b="1" dirty="0">
              <a:solidFill>
                <a:srgbClr val="FFFFFF"/>
              </a:solidFill>
              <a:latin typeface="Open Sans Bold"/>
              <a:ea typeface="Open Sans Bold"/>
              <a:cs typeface="Open Sans Bold"/>
              <a:sym typeface="Open Sans Bold"/>
            </a:endParaRPr>
          </a:p>
          <a:p>
            <a:pPr algn="l">
              <a:lnSpc>
                <a:spcPts val="7232"/>
              </a:lnSpc>
              <a:spcBef>
                <a:spcPct val="0"/>
              </a:spcBef>
            </a:pPr>
            <a:endParaRPr lang="en-US" sz="2387" b="1" dirty="0">
              <a:solidFill>
                <a:srgbClr val="FFFFFF"/>
              </a:solidFill>
              <a:latin typeface="Open Sans Bold"/>
              <a:ea typeface="Open Sans Bold"/>
              <a:cs typeface="Open Sans Bold"/>
              <a:sym typeface="Open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8327349">
            <a:off x="13119996" y="-592222"/>
            <a:ext cx="8507209" cy="5729821"/>
          </a:xfrm>
          <a:custGeom>
            <a:avLst/>
            <a:gdLst/>
            <a:ahLst/>
            <a:cxnLst/>
            <a:rect l="l" t="t" r="r" b="b"/>
            <a:pathLst>
              <a:path w="8507209" h="5729821">
                <a:moveTo>
                  <a:pt x="0" y="0"/>
                </a:moveTo>
                <a:lnTo>
                  <a:pt x="8507210" y="0"/>
                </a:lnTo>
                <a:lnTo>
                  <a:pt x="8507210" y="5729822"/>
                </a:lnTo>
                <a:lnTo>
                  <a:pt x="0" y="5729822"/>
                </a:lnTo>
                <a:lnTo>
                  <a:pt x="0" y="0"/>
                </a:lnTo>
                <a:close/>
              </a:path>
            </a:pathLst>
          </a:custGeom>
          <a:blipFill>
            <a:blip r:embed="rId2"/>
            <a:stretch>
              <a:fillRect/>
            </a:stretch>
          </a:blipFill>
        </p:spPr>
      </p:sp>
      <p:sp>
        <p:nvSpPr>
          <p:cNvPr id="3" name="Freeform 3"/>
          <p:cNvSpPr/>
          <p:nvPr/>
        </p:nvSpPr>
        <p:spPr>
          <a:xfrm>
            <a:off x="-46524"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a:off x="-2643676" y="2878173"/>
            <a:ext cx="10287000" cy="5143500"/>
          </a:xfrm>
          <a:custGeom>
            <a:avLst/>
            <a:gdLst/>
            <a:ahLst/>
            <a:cxnLst/>
            <a:rect l="l" t="t" r="r" b="b"/>
            <a:pathLst>
              <a:path w="10287000" h="5143500">
                <a:moveTo>
                  <a:pt x="0" y="0"/>
                </a:moveTo>
                <a:lnTo>
                  <a:pt x="10287000" y="0"/>
                </a:lnTo>
                <a:lnTo>
                  <a:pt x="10287000" y="5143500"/>
                </a:lnTo>
                <a:lnTo>
                  <a:pt x="0" y="51435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5" name="Group 5"/>
          <p:cNvGrpSpPr/>
          <p:nvPr/>
        </p:nvGrpSpPr>
        <p:grpSpPr>
          <a:xfrm>
            <a:off x="0" y="0"/>
            <a:ext cx="1743343" cy="10287000"/>
            <a:chOff x="0" y="0"/>
            <a:chExt cx="459152" cy="2709333"/>
          </a:xfrm>
        </p:grpSpPr>
        <p:sp>
          <p:nvSpPr>
            <p:cNvPr id="6" name="Freeform 6"/>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7" name="TextBox 7"/>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458424">
            <a:off x="12809336" y="1669589"/>
            <a:ext cx="5182388" cy="5243216"/>
            <a:chOff x="0" y="0"/>
            <a:chExt cx="6909851" cy="6990954"/>
          </a:xfrm>
        </p:grpSpPr>
        <p:sp>
          <p:nvSpPr>
            <p:cNvPr id="9" name="Freeform 9"/>
            <p:cNvSpPr/>
            <p:nvPr/>
          </p:nvSpPr>
          <p:spPr>
            <a:xfrm flipH="1">
              <a:off x="0" y="760857"/>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sp>
        <p:sp>
          <p:nvSpPr>
            <p:cNvPr id="10" name="Freeform 10"/>
            <p:cNvSpPr/>
            <p:nvPr/>
          </p:nvSpPr>
          <p:spPr>
            <a:xfrm flipH="1">
              <a:off x="599440" y="0"/>
              <a:ext cx="6310411" cy="6230097"/>
            </a:xfrm>
            <a:custGeom>
              <a:avLst/>
              <a:gdLst/>
              <a:ahLst/>
              <a:cxnLst/>
              <a:rect l="l" t="t" r="r" b="b"/>
              <a:pathLst>
                <a:path w="6310411" h="6230097">
                  <a:moveTo>
                    <a:pt x="6310411" y="0"/>
                  </a:moveTo>
                  <a:lnTo>
                    <a:pt x="0" y="0"/>
                  </a:lnTo>
                  <a:lnTo>
                    <a:pt x="0" y="6230097"/>
                  </a:lnTo>
                  <a:lnTo>
                    <a:pt x="6310411" y="6230097"/>
                  </a:lnTo>
                  <a:lnTo>
                    <a:pt x="6310411" y="0"/>
                  </a:lnTo>
                  <a:close/>
                </a:path>
              </a:pathLst>
            </a:custGeom>
            <a:blipFill>
              <a:blip r:embed="rId9">
                <a:extLst>
                  <a:ext uri="{96DAC541-7B7A-43D3-8B79-37D633B846F1}">
                    <asvg:svgBlip xmlns:asvg="http://schemas.microsoft.com/office/drawing/2016/SVG/main" r:embed="rId10"/>
                  </a:ext>
                </a:extLst>
              </a:blip>
              <a:stretch>
                <a:fillRect/>
              </a:stretch>
            </a:blipFill>
          </p:spPr>
        </p:sp>
      </p:grpSp>
      <p:sp>
        <p:nvSpPr>
          <p:cNvPr id="11" name="TextBox 11"/>
          <p:cNvSpPr txBox="1"/>
          <p:nvPr/>
        </p:nvSpPr>
        <p:spPr>
          <a:xfrm>
            <a:off x="2499824" y="853464"/>
            <a:ext cx="9225305" cy="2638425"/>
          </a:xfrm>
          <a:prstGeom prst="rect">
            <a:avLst/>
          </a:prstGeom>
        </p:spPr>
        <p:txBody>
          <a:bodyPr lIns="0" tIns="0" rIns="0" bIns="0" rtlCol="0" anchor="t">
            <a:spAutoFit/>
          </a:bodyPr>
          <a:lstStyle/>
          <a:p>
            <a:pPr algn="l">
              <a:lnSpc>
                <a:spcPts val="9600"/>
              </a:lnSpc>
            </a:pPr>
            <a:r>
              <a:rPr lang="en-US" sz="8000" b="1">
                <a:solidFill>
                  <a:srgbClr val="FFFFFF"/>
                </a:solidFill>
                <a:latin typeface="Heading Now 71-78 Bold"/>
                <a:ea typeface="Heading Now 71-78 Bold"/>
                <a:cs typeface="Heading Now 71-78 Bold"/>
                <a:sym typeface="Heading Now 71-78 Bold"/>
              </a:rPr>
              <a:t>OBJECTIFS TECHNIQUES</a:t>
            </a:r>
          </a:p>
        </p:txBody>
      </p:sp>
      <p:sp>
        <p:nvSpPr>
          <p:cNvPr id="12" name="TextBox 12"/>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3" name="TextBox 13"/>
          <p:cNvSpPr txBox="1"/>
          <p:nvPr/>
        </p:nvSpPr>
        <p:spPr>
          <a:xfrm>
            <a:off x="2036562" y="4151858"/>
            <a:ext cx="10659159" cy="4443204"/>
          </a:xfrm>
          <a:prstGeom prst="rect">
            <a:avLst/>
          </a:prstGeom>
        </p:spPr>
        <p:txBody>
          <a:bodyPr lIns="0" tIns="0" rIns="0" bIns="0" rtlCol="0" anchor="t">
            <a:spAutoFit/>
          </a:bodyPr>
          <a:lstStyle/>
          <a:p>
            <a:pPr marL="499754" lvl="1" indent="-249877" algn="l">
              <a:lnSpc>
                <a:spcPts val="3240"/>
              </a:lnSpc>
              <a:buFont typeface="Arial"/>
              <a:buChar char="•"/>
            </a:pPr>
            <a:r>
              <a:rPr lang="en-US" sz="4000" dirty="0" err="1">
                <a:solidFill>
                  <a:schemeClr val="accent6">
                    <a:lumMod val="50000"/>
                  </a:schemeClr>
                </a:solidFill>
                <a:ea typeface="Open Sans Bold"/>
                <a:cs typeface="Open Sans Bold"/>
                <a:sym typeface="Open Sans Bold"/>
              </a:rPr>
              <a:t>Intégrer</a:t>
            </a:r>
            <a:r>
              <a:rPr lang="en-US" sz="4000" dirty="0">
                <a:solidFill>
                  <a:schemeClr val="accent6">
                    <a:lumMod val="50000"/>
                  </a:schemeClr>
                </a:solidFill>
                <a:ea typeface="Open Sans Bold"/>
                <a:cs typeface="Open Sans Bold"/>
                <a:sym typeface="Open Sans Bold"/>
              </a:rPr>
              <a:t> les </a:t>
            </a:r>
            <a:r>
              <a:rPr lang="en-US" sz="4000" dirty="0" err="1">
                <a:solidFill>
                  <a:schemeClr val="accent6">
                    <a:lumMod val="50000"/>
                  </a:schemeClr>
                </a:solidFill>
                <a:ea typeface="Open Sans Bold"/>
                <a:cs typeface="Open Sans Bold"/>
                <a:sym typeface="Open Sans Bold"/>
              </a:rPr>
              <a:t>données</a:t>
            </a:r>
            <a:r>
              <a:rPr lang="en-US" sz="4000" dirty="0">
                <a:solidFill>
                  <a:schemeClr val="accent6">
                    <a:lumMod val="50000"/>
                  </a:schemeClr>
                </a:solidFill>
                <a:ea typeface="Open Sans Bold"/>
                <a:cs typeface="Open Sans Bold"/>
                <a:sym typeface="Open Sans Bold"/>
              </a:rPr>
              <a:t> </a:t>
            </a:r>
            <a:r>
              <a:rPr lang="en-US" sz="4000" dirty="0" err="1">
                <a:solidFill>
                  <a:schemeClr val="accent6">
                    <a:lumMod val="50000"/>
                  </a:schemeClr>
                </a:solidFill>
                <a:ea typeface="Open Sans Bold"/>
                <a:cs typeface="Open Sans Bold"/>
                <a:sym typeface="Open Sans Bold"/>
              </a:rPr>
              <a:t>d’adhesion</a:t>
            </a:r>
            <a:r>
              <a:rPr lang="en-US" sz="4000" dirty="0">
                <a:solidFill>
                  <a:schemeClr val="accent6">
                    <a:lumMod val="50000"/>
                  </a:schemeClr>
                </a:solidFill>
                <a:ea typeface="Open Sans Bold"/>
                <a:cs typeface="Open Sans Bold"/>
                <a:sym typeface="Open Sans Bold"/>
              </a:rPr>
              <a:t> de </a:t>
            </a:r>
            <a:r>
              <a:rPr lang="en-US" sz="4000" dirty="0" err="1">
                <a:solidFill>
                  <a:schemeClr val="accent6">
                    <a:lumMod val="50000"/>
                  </a:schemeClr>
                </a:solidFill>
                <a:ea typeface="Open Sans Bold"/>
                <a:cs typeface="Open Sans Bold"/>
                <a:sym typeface="Open Sans Bold"/>
              </a:rPr>
              <a:t>démographie</a:t>
            </a:r>
            <a:r>
              <a:rPr lang="en-US" sz="4000" dirty="0">
                <a:solidFill>
                  <a:schemeClr val="accent6">
                    <a:lumMod val="50000"/>
                  </a:schemeClr>
                </a:solidFill>
                <a:ea typeface="Open Sans Bold"/>
                <a:cs typeface="Open Sans Bold"/>
                <a:sym typeface="Open Sans Bold"/>
              </a:rPr>
              <a:t> de vols , et de </a:t>
            </a:r>
            <a:r>
              <a:rPr lang="en-US" sz="4000" dirty="0" err="1">
                <a:solidFill>
                  <a:schemeClr val="accent6">
                    <a:lumMod val="50000"/>
                  </a:schemeClr>
                </a:solidFill>
                <a:ea typeface="Open Sans Bold"/>
                <a:cs typeface="Open Sans Bold"/>
                <a:sym typeface="Open Sans Bold"/>
              </a:rPr>
              <a:t>fidèlité</a:t>
            </a:r>
            <a:r>
              <a:rPr lang="en-US" sz="4000" dirty="0">
                <a:solidFill>
                  <a:schemeClr val="accent6">
                    <a:lumMod val="50000"/>
                  </a:schemeClr>
                </a:solidFill>
                <a:ea typeface="Open Sans Bold"/>
                <a:cs typeface="Open Sans Bold"/>
                <a:sym typeface="Open Sans Bold"/>
              </a:rPr>
              <a:t> dans un Entrepot de </a:t>
            </a:r>
            <a:r>
              <a:rPr lang="en-US" sz="4000" dirty="0" err="1">
                <a:solidFill>
                  <a:schemeClr val="accent6">
                    <a:lumMod val="50000"/>
                  </a:schemeClr>
                </a:solidFill>
                <a:ea typeface="Open Sans Bold"/>
                <a:cs typeface="Open Sans Bold"/>
                <a:sym typeface="Open Sans Bold"/>
              </a:rPr>
              <a:t>données</a:t>
            </a:r>
            <a:r>
              <a:rPr lang="en-US" sz="4000" dirty="0">
                <a:solidFill>
                  <a:schemeClr val="accent6">
                    <a:lumMod val="50000"/>
                  </a:schemeClr>
                </a:solidFill>
                <a:ea typeface="Open Sans Bold"/>
                <a:cs typeface="Open Sans Bold"/>
                <a:sym typeface="Open Sans Bold"/>
              </a:rPr>
              <a:t>.</a:t>
            </a:r>
          </a:p>
          <a:p>
            <a:pPr marL="499754" lvl="1" indent="-249877" algn="l">
              <a:lnSpc>
                <a:spcPts val="3240"/>
              </a:lnSpc>
              <a:buFont typeface="Arial"/>
              <a:buChar char="•"/>
            </a:pPr>
            <a:endParaRPr lang="en-US" sz="4000" dirty="0">
              <a:solidFill>
                <a:schemeClr val="accent6">
                  <a:lumMod val="50000"/>
                </a:schemeClr>
              </a:solidFill>
              <a:ea typeface="Open Sans Bold"/>
              <a:cs typeface="Open Sans Bold"/>
              <a:sym typeface="Open Sans Bold"/>
            </a:endParaRPr>
          </a:p>
          <a:p>
            <a:pPr marL="499754" lvl="1" indent="-249877" algn="l">
              <a:lnSpc>
                <a:spcPts val="3240"/>
              </a:lnSpc>
              <a:buFont typeface="Arial"/>
              <a:buChar char="•"/>
            </a:pPr>
            <a:endParaRPr lang="en-US" sz="4000" dirty="0">
              <a:solidFill>
                <a:schemeClr val="accent6">
                  <a:lumMod val="50000"/>
                </a:schemeClr>
              </a:solidFill>
              <a:ea typeface="Open Sans Bold"/>
              <a:cs typeface="Open Sans Bold"/>
              <a:sym typeface="Open Sans Bold"/>
            </a:endParaRPr>
          </a:p>
          <a:p>
            <a:pPr marL="499754" lvl="1" indent="-249877" algn="l">
              <a:lnSpc>
                <a:spcPts val="3240"/>
              </a:lnSpc>
              <a:buFont typeface="Arial"/>
              <a:buChar char="•"/>
            </a:pPr>
            <a:r>
              <a:rPr lang="en-US" sz="4000" dirty="0" err="1">
                <a:solidFill>
                  <a:schemeClr val="accent6">
                    <a:lumMod val="50000"/>
                  </a:schemeClr>
                </a:solidFill>
                <a:ea typeface="Open Sans Bold"/>
                <a:cs typeface="Open Sans Bold"/>
                <a:sym typeface="Open Sans Bold"/>
              </a:rPr>
              <a:t>Développer</a:t>
            </a:r>
            <a:r>
              <a:rPr lang="en-US" sz="4000" dirty="0">
                <a:solidFill>
                  <a:schemeClr val="accent6">
                    <a:lumMod val="50000"/>
                  </a:schemeClr>
                </a:solidFill>
                <a:ea typeface="Open Sans Bold"/>
                <a:cs typeface="Open Sans Bold"/>
                <a:sym typeface="Open Sans Bold"/>
              </a:rPr>
              <a:t> des tableaux de bord </a:t>
            </a:r>
            <a:r>
              <a:rPr lang="en-US" sz="4000" dirty="0" err="1">
                <a:solidFill>
                  <a:schemeClr val="accent6">
                    <a:lumMod val="50000"/>
                  </a:schemeClr>
                </a:solidFill>
                <a:ea typeface="Open Sans Bold"/>
                <a:cs typeface="Open Sans Bold"/>
                <a:sym typeface="Open Sans Bold"/>
              </a:rPr>
              <a:t>interactifs</a:t>
            </a:r>
            <a:r>
              <a:rPr lang="en-US" sz="4000" dirty="0">
                <a:solidFill>
                  <a:schemeClr val="accent6">
                    <a:lumMod val="50000"/>
                  </a:schemeClr>
                </a:solidFill>
                <a:ea typeface="Open Sans Bold"/>
                <a:cs typeface="Open Sans Bold"/>
                <a:sym typeface="Open Sans Bold"/>
              </a:rPr>
              <a:t> </a:t>
            </a:r>
            <a:r>
              <a:rPr lang="en-US" sz="4000" dirty="0" err="1">
                <a:solidFill>
                  <a:schemeClr val="accent6">
                    <a:lumMod val="50000"/>
                  </a:schemeClr>
                </a:solidFill>
                <a:ea typeface="Open Sans Bold"/>
                <a:cs typeface="Open Sans Bold"/>
                <a:sym typeface="Open Sans Bold"/>
              </a:rPr>
              <a:t>permettant</a:t>
            </a:r>
            <a:r>
              <a:rPr lang="en-US" sz="4000" dirty="0">
                <a:solidFill>
                  <a:schemeClr val="accent6">
                    <a:lumMod val="50000"/>
                  </a:schemeClr>
                </a:solidFill>
                <a:ea typeface="Open Sans Bold"/>
                <a:cs typeface="Open Sans Bold"/>
                <a:sym typeface="Open Sans Bold"/>
              </a:rPr>
              <a:t> </a:t>
            </a:r>
            <a:r>
              <a:rPr lang="en-US" sz="4000" dirty="0" err="1">
                <a:solidFill>
                  <a:schemeClr val="accent6">
                    <a:lumMod val="50000"/>
                  </a:schemeClr>
                </a:solidFill>
                <a:ea typeface="Open Sans Bold"/>
                <a:cs typeface="Open Sans Bold"/>
                <a:sym typeface="Open Sans Bold"/>
              </a:rPr>
              <a:t>l’analyse</a:t>
            </a:r>
            <a:r>
              <a:rPr lang="en-US" sz="4000" dirty="0">
                <a:solidFill>
                  <a:schemeClr val="accent6">
                    <a:lumMod val="50000"/>
                  </a:schemeClr>
                </a:solidFill>
                <a:ea typeface="Open Sans Bold"/>
                <a:cs typeface="Open Sans Bold"/>
                <a:sym typeface="Open Sans Bold"/>
              </a:rPr>
              <a:t> par </a:t>
            </a:r>
            <a:r>
              <a:rPr lang="en-US" sz="4000" dirty="0" err="1">
                <a:solidFill>
                  <a:schemeClr val="accent6">
                    <a:lumMod val="50000"/>
                  </a:schemeClr>
                </a:solidFill>
                <a:ea typeface="Open Sans Bold"/>
                <a:cs typeface="Open Sans Bold"/>
                <a:sym typeface="Open Sans Bold"/>
              </a:rPr>
              <a:t>période</a:t>
            </a:r>
            <a:r>
              <a:rPr lang="en-US" sz="4000" dirty="0">
                <a:solidFill>
                  <a:schemeClr val="accent6">
                    <a:lumMod val="50000"/>
                  </a:schemeClr>
                </a:solidFill>
                <a:ea typeface="Open Sans Bold"/>
                <a:cs typeface="Open Sans Bold"/>
                <a:sym typeface="Open Sans Bold"/>
              </a:rPr>
              <a:t>, </a:t>
            </a:r>
            <a:r>
              <a:rPr lang="en-US" sz="4000" dirty="0" err="1">
                <a:solidFill>
                  <a:schemeClr val="accent6">
                    <a:lumMod val="50000"/>
                  </a:schemeClr>
                </a:solidFill>
                <a:ea typeface="Open Sans Bold"/>
                <a:cs typeface="Open Sans Bold"/>
                <a:sym typeface="Open Sans Bold"/>
              </a:rPr>
              <a:t>région</a:t>
            </a:r>
            <a:r>
              <a:rPr lang="en-US" sz="4000" dirty="0">
                <a:solidFill>
                  <a:schemeClr val="accent6">
                    <a:lumMod val="50000"/>
                  </a:schemeClr>
                </a:solidFill>
                <a:ea typeface="Open Sans Bold"/>
                <a:cs typeface="Open Sans Bold"/>
                <a:sym typeface="Open Sans Bold"/>
              </a:rPr>
              <a:t>, </a:t>
            </a:r>
            <a:r>
              <a:rPr lang="en-US" sz="4000" dirty="0" err="1">
                <a:solidFill>
                  <a:schemeClr val="accent6">
                    <a:lumMod val="50000"/>
                  </a:schemeClr>
                </a:solidFill>
                <a:ea typeface="Open Sans Bold"/>
                <a:cs typeface="Open Sans Bold"/>
                <a:sym typeface="Open Sans Bold"/>
              </a:rPr>
              <a:t>démographie</a:t>
            </a:r>
            <a:r>
              <a:rPr lang="en-US" sz="4000" dirty="0">
                <a:solidFill>
                  <a:schemeClr val="accent6">
                    <a:lumMod val="50000"/>
                  </a:schemeClr>
                </a:solidFill>
                <a:ea typeface="Open Sans Bold"/>
                <a:cs typeface="Open Sans Bold"/>
                <a:sym typeface="Open Sans Bold"/>
              </a:rPr>
              <a:t> et </a:t>
            </a:r>
            <a:r>
              <a:rPr lang="en-US" sz="4000" dirty="0" err="1">
                <a:solidFill>
                  <a:schemeClr val="accent6">
                    <a:lumMod val="50000"/>
                  </a:schemeClr>
                </a:solidFill>
                <a:ea typeface="Open Sans Bold"/>
                <a:cs typeface="Open Sans Bold"/>
                <a:sym typeface="Open Sans Bold"/>
              </a:rPr>
              <a:t>statut</a:t>
            </a:r>
            <a:r>
              <a:rPr lang="en-US" sz="4000" dirty="0">
                <a:solidFill>
                  <a:schemeClr val="accent6">
                    <a:lumMod val="50000"/>
                  </a:schemeClr>
                </a:solidFill>
                <a:ea typeface="Open Sans Bold"/>
                <a:cs typeface="Open Sans Bold"/>
                <a:sym typeface="Open Sans Bold"/>
              </a:rPr>
              <a:t> de </a:t>
            </a:r>
            <a:r>
              <a:rPr lang="en-US" sz="4000" dirty="0" err="1">
                <a:solidFill>
                  <a:schemeClr val="accent6">
                    <a:lumMod val="50000"/>
                  </a:schemeClr>
                </a:solidFill>
                <a:ea typeface="Open Sans Bold"/>
                <a:cs typeface="Open Sans Bold"/>
                <a:sym typeface="Open Sans Bold"/>
              </a:rPr>
              <a:t>fidélité</a:t>
            </a:r>
            <a:r>
              <a:rPr lang="en-US" sz="4000" dirty="0">
                <a:solidFill>
                  <a:schemeClr val="accent6">
                    <a:lumMod val="50000"/>
                  </a:schemeClr>
                </a:solidFill>
                <a:ea typeface="Open Sans Bold"/>
                <a:cs typeface="Open Sans Bold"/>
                <a:sym typeface="Open Sans Bold"/>
              </a:rPr>
              <a:t>.</a:t>
            </a:r>
          </a:p>
          <a:p>
            <a:pPr algn="l">
              <a:lnSpc>
                <a:spcPts val="3240"/>
              </a:lnSpc>
            </a:pPr>
            <a:endParaRPr lang="en-US" sz="2314" b="1" dirty="0">
              <a:solidFill>
                <a:srgbClr val="FFFFFF"/>
              </a:solidFill>
              <a:latin typeface="Open Sans Bold"/>
              <a:ea typeface="Open Sans Bold"/>
              <a:cs typeface="Open Sans Bold"/>
              <a:sym typeface="Open Sans Bold"/>
            </a:endParaRPr>
          </a:p>
          <a:p>
            <a:pPr algn="l">
              <a:lnSpc>
                <a:spcPts val="7011"/>
              </a:lnSpc>
              <a:spcBef>
                <a:spcPct val="0"/>
              </a:spcBef>
            </a:pPr>
            <a:endParaRPr lang="en-US" sz="2314" b="1" dirty="0">
              <a:solidFill>
                <a:srgbClr val="FFFFFF"/>
              </a:solidFill>
              <a:latin typeface="Open Sans Bold"/>
              <a:ea typeface="Open Sans Bold"/>
              <a:cs typeface="Open Sans Bold"/>
              <a:sym typeface="Open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626"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8783744">
            <a:off x="556827" y="5842306"/>
            <a:ext cx="4127043" cy="4175484"/>
            <a:chOff x="0" y="0"/>
            <a:chExt cx="5502724" cy="5567311"/>
          </a:xfrm>
        </p:grpSpPr>
        <p:sp>
          <p:nvSpPr>
            <p:cNvPr id="4" name="Freeform 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6" name="Freeform 6"/>
          <p:cNvSpPr/>
          <p:nvPr/>
        </p:nvSpPr>
        <p:spPr>
          <a:xfrm rot="-2027482">
            <a:off x="-12517379" y="12011745"/>
            <a:ext cx="16351602" cy="1692212"/>
          </a:xfrm>
          <a:custGeom>
            <a:avLst/>
            <a:gdLst/>
            <a:ahLst/>
            <a:cxnLst/>
            <a:rect l="l" t="t" r="r" b="b"/>
            <a:pathLst>
              <a:path w="16351602" h="1692212">
                <a:moveTo>
                  <a:pt x="0" y="0"/>
                </a:moveTo>
                <a:lnTo>
                  <a:pt x="16351603" y="0"/>
                </a:lnTo>
                <a:lnTo>
                  <a:pt x="16351603" y="1692212"/>
                </a:lnTo>
                <a:lnTo>
                  <a:pt x="0" y="1692212"/>
                </a:lnTo>
                <a:lnTo>
                  <a:pt x="0" y="0"/>
                </a:lnTo>
                <a:close/>
              </a:path>
            </a:pathLst>
          </a:custGeom>
          <a:blipFill>
            <a:blip r:embed="rId8"/>
            <a:stretch>
              <a:fillRect/>
            </a:stretch>
          </a:blipFill>
        </p:spPr>
      </p:sp>
      <p:grpSp>
        <p:nvGrpSpPr>
          <p:cNvPr id="7" name="Group 7"/>
          <p:cNvGrpSpPr/>
          <p:nvPr/>
        </p:nvGrpSpPr>
        <p:grpSpPr>
          <a:xfrm>
            <a:off x="0" y="0"/>
            <a:ext cx="1743343" cy="10287000"/>
            <a:chOff x="0" y="0"/>
            <a:chExt cx="459152" cy="2709333"/>
          </a:xfrm>
        </p:grpSpPr>
        <p:sp>
          <p:nvSpPr>
            <p:cNvPr id="8" name="Freeform 8"/>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9" name="TextBox 9"/>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351885" y="3669775"/>
            <a:ext cx="13887653" cy="2257425"/>
          </a:xfrm>
          <a:prstGeom prst="rect">
            <a:avLst/>
          </a:prstGeom>
        </p:spPr>
        <p:txBody>
          <a:bodyPr lIns="0" tIns="0" rIns="0" bIns="0" rtlCol="0" anchor="t">
            <a:spAutoFit/>
          </a:bodyPr>
          <a:lstStyle/>
          <a:p>
            <a:pPr algn="l">
              <a:lnSpc>
                <a:spcPts val="8280"/>
              </a:lnSpc>
            </a:pPr>
            <a:r>
              <a:rPr lang="en-US" sz="6900" b="1" dirty="0">
                <a:solidFill>
                  <a:srgbClr val="FFFFFF"/>
                </a:solidFill>
                <a:latin typeface="Heading Now 71-78 Bold"/>
                <a:ea typeface="Heading Now 71-78 Bold"/>
                <a:cs typeface="Heading Now 71-78 Bold"/>
                <a:sym typeface="Heading Now 71-78 Bold"/>
              </a:rPr>
              <a:t>MODELE CONCEPTUEL DE DONNEES </a:t>
            </a:r>
          </a:p>
        </p:txBody>
      </p:sp>
      <p:sp>
        <p:nvSpPr>
          <p:cNvPr id="11" name="TextBox 11"/>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2" name="TextBox 12"/>
          <p:cNvSpPr txBox="1"/>
          <p:nvPr/>
        </p:nvSpPr>
        <p:spPr>
          <a:xfrm>
            <a:off x="244331" y="3810896"/>
            <a:ext cx="1499012" cy="1238250"/>
          </a:xfrm>
          <a:prstGeom prst="rect">
            <a:avLst/>
          </a:prstGeom>
        </p:spPr>
        <p:txBody>
          <a:bodyPr lIns="0" tIns="0" rIns="0" bIns="0" rtlCol="0" anchor="t">
            <a:spAutoFit/>
          </a:bodyPr>
          <a:lstStyle/>
          <a:p>
            <a:pPr marL="0" lvl="0" indent="0" algn="l">
              <a:lnSpc>
                <a:spcPts val="8400"/>
              </a:lnSpc>
              <a:spcBef>
                <a:spcPct val="0"/>
              </a:spcBef>
            </a:pPr>
            <a:r>
              <a:rPr lang="en-US" sz="7000" b="1" u="none" strike="noStrike">
                <a:solidFill>
                  <a:srgbClr val="FFFFFF"/>
                </a:solidFill>
                <a:latin typeface="Heading Now 71-78 Bold"/>
                <a:ea typeface="Heading Now 71-78 Bold"/>
                <a:cs typeface="Heading Now 71-78 Bold"/>
                <a:sym typeface="Heading Now 71-78 Bold"/>
              </a:rPr>
              <a:t>02</a:t>
            </a:r>
          </a:p>
        </p:txBody>
      </p:sp>
      <p:grpSp>
        <p:nvGrpSpPr>
          <p:cNvPr id="13" name="Group 13"/>
          <p:cNvGrpSpPr/>
          <p:nvPr/>
        </p:nvGrpSpPr>
        <p:grpSpPr>
          <a:xfrm rot="-8579175">
            <a:off x="13950047" y="-117588"/>
            <a:ext cx="4127043" cy="4175484"/>
            <a:chOff x="0" y="0"/>
            <a:chExt cx="5502724" cy="5567311"/>
          </a:xfrm>
        </p:grpSpPr>
        <p:sp>
          <p:nvSpPr>
            <p:cNvPr id="14" name="Freeform 1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15" name="Freeform 1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625"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8783744">
            <a:off x="556827" y="5842306"/>
            <a:ext cx="4127043" cy="4175484"/>
            <a:chOff x="0" y="0"/>
            <a:chExt cx="5502724" cy="5567311"/>
          </a:xfrm>
        </p:grpSpPr>
        <p:sp>
          <p:nvSpPr>
            <p:cNvPr id="4" name="Freeform 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6" name="Freeform 6"/>
          <p:cNvSpPr/>
          <p:nvPr/>
        </p:nvSpPr>
        <p:spPr>
          <a:xfrm rot="-2027482">
            <a:off x="-12517379" y="12011745"/>
            <a:ext cx="16351602" cy="1692212"/>
          </a:xfrm>
          <a:custGeom>
            <a:avLst/>
            <a:gdLst/>
            <a:ahLst/>
            <a:cxnLst/>
            <a:rect l="l" t="t" r="r" b="b"/>
            <a:pathLst>
              <a:path w="16351602" h="1692212">
                <a:moveTo>
                  <a:pt x="0" y="0"/>
                </a:moveTo>
                <a:lnTo>
                  <a:pt x="16351603" y="0"/>
                </a:lnTo>
                <a:lnTo>
                  <a:pt x="16351603" y="1692212"/>
                </a:lnTo>
                <a:lnTo>
                  <a:pt x="0" y="1692212"/>
                </a:lnTo>
                <a:lnTo>
                  <a:pt x="0" y="0"/>
                </a:lnTo>
                <a:close/>
              </a:path>
            </a:pathLst>
          </a:custGeom>
          <a:blipFill>
            <a:blip r:embed="rId8"/>
            <a:stretch>
              <a:fillRect/>
            </a:stretch>
          </a:blipFill>
        </p:spPr>
      </p:sp>
      <p:grpSp>
        <p:nvGrpSpPr>
          <p:cNvPr id="7" name="Group 7"/>
          <p:cNvGrpSpPr/>
          <p:nvPr/>
        </p:nvGrpSpPr>
        <p:grpSpPr>
          <a:xfrm>
            <a:off x="0" y="0"/>
            <a:ext cx="1743343" cy="10287000"/>
            <a:chOff x="0" y="0"/>
            <a:chExt cx="459152" cy="2709333"/>
          </a:xfrm>
        </p:grpSpPr>
        <p:sp>
          <p:nvSpPr>
            <p:cNvPr id="8" name="Freeform 8"/>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9" name="TextBox 9"/>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grpSp>
        <p:nvGrpSpPr>
          <p:cNvPr id="13" name="Group 13"/>
          <p:cNvGrpSpPr/>
          <p:nvPr/>
        </p:nvGrpSpPr>
        <p:grpSpPr>
          <a:xfrm rot="-8579175">
            <a:off x="13950047" y="-117588"/>
            <a:ext cx="4127043" cy="4175484"/>
            <a:chOff x="0" y="0"/>
            <a:chExt cx="5502724" cy="5567311"/>
          </a:xfrm>
        </p:grpSpPr>
        <p:sp>
          <p:nvSpPr>
            <p:cNvPr id="14" name="Freeform 1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15" name="Freeform 1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16" name="Freeform 2">
            <a:extLst>
              <a:ext uri="{FF2B5EF4-FFF2-40B4-BE49-F238E27FC236}">
                <a16:creationId xmlns:a16="http://schemas.microsoft.com/office/drawing/2014/main" id="{A463813F-10CF-4034-95E9-5AD37B276036}"/>
              </a:ext>
            </a:extLst>
          </p:cNvPr>
          <p:cNvSpPr/>
          <p:nvPr/>
        </p:nvSpPr>
        <p:spPr>
          <a:xfrm>
            <a:off x="4266703" y="189950"/>
            <a:ext cx="9632589" cy="9718389"/>
          </a:xfrm>
          <a:custGeom>
            <a:avLst/>
            <a:gdLst/>
            <a:ahLst/>
            <a:cxnLst/>
            <a:rect l="l" t="t" r="r" b="b"/>
            <a:pathLst>
              <a:path w="10216207" h="10741541">
                <a:moveTo>
                  <a:pt x="0" y="0"/>
                </a:moveTo>
                <a:lnTo>
                  <a:pt x="10216208" y="0"/>
                </a:lnTo>
                <a:lnTo>
                  <a:pt x="10216208" y="10741541"/>
                </a:lnTo>
                <a:lnTo>
                  <a:pt x="0" y="10741541"/>
                </a:lnTo>
                <a:lnTo>
                  <a:pt x="0" y="0"/>
                </a:lnTo>
                <a:close/>
              </a:path>
            </a:pathLst>
          </a:custGeom>
          <a:blipFill>
            <a:blip r:embed="rId9"/>
            <a:stretch>
              <a:fillRect l="-47705" t="-3429" r="-28178" b="-7489"/>
            </a:stretch>
          </a:blipFill>
        </p:spPr>
      </p:sp>
    </p:spTree>
    <p:extLst>
      <p:ext uri="{BB962C8B-B14F-4D97-AF65-F5344CB8AC3E}">
        <p14:creationId xmlns:p14="http://schemas.microsoft.com/office/powerpoint/2010/main" val="121829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626" y="2882289"/>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8783744">
            <a:off x="556827" y="5842306"/>
            <a:ext cx="4127043" cy="4175484"/>
            <a:chOff x="0" y="0"/>
            <a:chExt cx="5502724" cy="5567311"/>
          </a:xfrm>
        </p:grpSpPr>
        <p:sp>
          <p:nvSpPr>
            <p:cNvPr id="4" name="Freeform 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
        <p:nvSpPr>
          <p:cNvPr id="6" name="Freeform 6"/>
          <p:cNvSpPr/>
          <p:nvPr/>
        </p:nvSpPr>
        <p:spPr>
          <a:xfrm rot="-2027482">
            <a:off x="-12517379" y="12011745"/>
            <a:ext cx="16351602" cy="1692212"/>
          </a:xfrm>
          <a:custGeom>
            <a:avLst/>
            <a:gdLst/>
            <a:ahLst/>
            <a:cxnLst/>
            <a:rect l="l" t="t" r="r" b="b"/>
            <a:pathLst>
              <a:path w="16351602" h="1692212">
                <a:moveTo>
                  <a:pt x="0" y="0"/>
                </a:moveTo>
                <a:lnTo>
                  <a:pt x="16351603" y="0"/>
                </a:lnTo>
                <a:lnTo>
                  <a:pt x="16351603" y="1692212"/>
                </a:lnTo>
                <a:lnTo>
                  <a:pt x="0" y="1692212"/>
                </a:lnTo>
                <a:lnTo>
                  <a:pt x="0" y="0"/>
                </a:lnTo>
                <a:close/>
              </a:path>
            </a:pathLst>
          </a:custGeom>
          <a:blipFill>
            <a:blip r:embed="rId8"/>
            <a:stretch>
              <a:fillRect/>
            </a:stretch>
          </a:blipFill>
        </p:spPr>
      </p:sp>
      <p:grpSp>
        <p:nvGrpSpPr>
          <p:cNvPr id="7" name="Group 7"/>
          <p:cNvGrpSpPr/>
          <p:nvPr/>
        </p:nvGrpSpPr>
        <p:grpSpPr>
          <a:xfrm>
            <a:off x="0" y="0"/>
            <a:ext cx="1743343" cy="10287000"/>
            <a:chOff x="0" y="0"/>
            <a:chExt cx="459152" cy="2709333"/>
          </a:xfrm>
        </p:grpSpPr>
        <p:sp>
          <p:nvSpPr>
            <p:cNvPr id="8" name="Freeform 8"/>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9" name="TextBox 9"/>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2351885" y="3669775"/>
            <a:ext cx="13887653" cy="2257425"/>
          </a:xfrm>
          <a:prstGeom prst="rect">
            <a:avLst/>
          </a:prstGeom>
        </p:spPr>
        <p:txBody>
          <a:bodyPr lIns="0" tIns="0" rIns="0" bIns="0" rtlCol="0" anchor="t">
            <a:spAutoFit/>
          </a:bodyPr>
          <a:lstStyle/>
          <a:p>
            <a:pPr algn="l">
              <a:lnSpc>
                <a:spcPts val="8280"/>
              </a:lnSpc>
            </a:pPr>
            <a:r>
              <a:rPr lang="en-US" sz="6900" b="1">
                <a:solidFill>
                  <a:srgbClr val="FFFFFF"/>
                </a:solidFill>
                <a:latin typeface="Heading Now 71-78 Bold"/>
                <a:ea typeface="Heading Now 71-78 Bold"/>
                <a:cs typeface="Heading Now 71-78 Bold"/>
                <a:sym typeface="Heading Now 71-78 Bold"/>
              </a:rPr>
              <a:t>VISUALISATION DES DONNEES </a:t>
            </a:r>
          </a:p>
        </p:txBody>
      </p:sp>
      <p:sp>
        <p:nvSpPr>
          <p:cNvPr id="11" name="TextBox 11"/>
          <p:cNvSpPr txBox="1"/>
          <p:nvPr/>
        </p:nvSpPr>
        <p:spPr>
          <a:xfrm>
            <a:off x="2300536" y="584201"/>
            <a:ext cx="1246227" cy="257174"/>
          </a:xfrm>
          <a:prstGeom prst="rect">
            <a:avLst/>
          </a:prstGeom>
        </p:spPr>
        <p:txBody>
          <a:bodyPr lIns="0" tIns="0" rIns="0" bIns="0" rtlCol="0" anchor="t">
            <a:spAutoFit/>
          </a:bodyPr>
          <a:lstStyle/>
          <a:p>
            <a:pPr algn="ctr">
              <a:lnSpc>
                <a:spcPts val="2100"/>
              </a:lnSpc>
            </a:pPr>
            <a:r>
              <a:rPr lang="en-US" sz="1500">
                <a:solidFill>
                  <a:srgbClr val="FFFFFF"/>
                </a:solidFill>
                <a:latin typeface="Open Sans"/>
                <a:ea typeface="Open Sans"/>
                <a:cs typeface="Open Sans"/>
                <a:sym typeface="Open Sans"/>
              </a:rPr>
              <a:t>NORTHEN AIR</a:t>
            </a:r>
          </a:p>
        </p:txBody>
      </p:sp>
      <p:sp>
        <p:nvSpPr>
          <p:cNvPr id="12" name="TextBox 12"/>
          <p:cNvSpPr txBox="1"/>
          <p:nvPr/>
        </p:nvSpPr>
        <p:spPr>
          <a:xfrm>
            <a:off x="244331" y="3810896"/>
            <a:ext cx="1499012" cy="1238250"/>
          </a:xfrm>
          <a:prstGeom prst="rect">
            <a:avLst/>
          </a:prstGeom>
        </p:spPr>
        <p:txBody>
          <a:bodyPr lIns="0" tIns="0" rIns="0" bIns="0" rtlCol="0" anchor="t">
            <a:spAutoFit/>
          </a:bodyPr>
          <a:lstStyle/>
          <a:p>
            <a:pPr marL="0" lvl="0" indent="0" algn="l">
              <a:lnSpc>
                <a:spcPts val="8400"/>
              </a:lnSpc>
              <a:spcBef>
                <a:spcPct val="0"/>
              </a:spcBef>
            </a:pPr>
            <a:r>
              <a:rPr lang="en-US" sz="7000" b="1">
                <a:solidFill>
                  <a:srgbClr val="FFFFFF"/>
                </a:solidFill>
                <a:latin typeface="Heading Now 71-78 Bold"/>
                <a:ea typeface="Heading Now 71-78 Bold"/>
                <a:cs typeface="Heading Now 71-78 Bold"/>
                <a:sym typeface="Heading Now 71-78 Bold"/>
              </a:rPr>
              <a:t>03</a:t>
            </a:r>
          </a:p>
        </p:txBody>
      </p:sp>
      <p:grpSp>
        <p:nvGrpSpPr>
          <p:cNvPr id="13" name="Group 13"/>
          <p:cNvGrpSpPr/>
          <p:nvPr/>
        </p:nvGrpSpPr>
        <p:grpSpPr>
          <a:xfrm rot="-8579175">
            <a:off x="14176017" y="146462"/>
            <a:ext cx="4127043" cy="4175484"/>
            <a:chOff x="0" y="0"/>
            <a:chExt cx="5502724" cy="5567311"/>
          </a:xfrm>
        </p:grpSpPr>
        <p:sp>
          <p:nvSpPr>
            <p:cNvPr id="14" name="Freeform 14"/>
            <p:cNvSpPr/>
            <p:nvPr/>
          </p:nvSpPr>
          <p:spPr>
            <a:xfrm flipH="1">
              <a:off x="0" y="605916"/>
              <a:ext cx="5025355" cy="4961396"/>
            </a:xfrm>
            <a:custGeom>
              <a:avLst/>
              <a:gdLst/>
              <a:ahLst/>
              <a:cxnLst/>
              <a:rect l="l" t="t" r="r" b="b"/>
              <a:pathLst>
                <a:path w="5025355" h="4961396">
                  <a:moveTo>
                    <a:pt x="5025355" y="0"/>
                  </a:moveTo>
                  <a:lnTo>
                    <a:pt x="0" y="0"/>
                  </a:lnTo>
                  <a:lnTo>
                    <a:pt x="0" y="4961395"/>
                  </a:lnTo>
                  <a:lnTo>
                    <a:pt x="5025355" y="4961395"/>
                  </a:lnTo>
                  <a:lnTo>
                    <a:pt x="5025355"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15" name="Freeform 15"/>
            <p:cNvSpPr/>
            <p:nvPr/>
          </p:nvSpPr>
          <p:spPr>
            <a:xfrm flipH="1">
              <a:off x="477369" y="0"/>
              <a:ext cx="5025355" cy="4961396"/>
            </a:xfrm>
            <a:custGeom>
              <a:avLst/>
              <a:gdLst/>
              <a:ahLst/>
              <a:cxnLst/>
              <a:rect l="l" t="t" r="r" b="b"/>
              <a:pathLst>
                <a:path w="5025355" h="4961396">
                  <a:moveTo>
                    <a:pt x="5025355" y="0"/>
                  </a:moveTo>
                  <a:lnTo>
                    <a:pt x="0" y="0"/>
                  </a:lnTo>
                  <a:lnTo>
                    <a:pt x="0" y="4961396"/>
                  </a:lnTo>
                  <a:lnTo>
                    <a:pt x="5025355" y="4961396"/>
                  </a:lnTo>
                  <a:lnTo>
                    <a:pt x="5025355" y="0"/>
                  </a:lnTo>
                  <a:close/>
                </a:path>
              </a:pathLst>
            </a:custGeom>
            <a:blipFill>
              <a:blip r:embed="rId6">
                <a:extLst>
                  <a:ext uri="{96DAC541-7B7A-43D3-8B79-37D633B846F1}">
                    <asvg:svgBlip xmlns:asvg="http://schemas.microsoft.com/office/drawing/2016/SVG/main" r:embed="rId7"/>
                  </a:ext>
                </a:extLst>
              </a:blip>
              <a:stretch>
                <a:fillRect/>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17793" y="4775687"/>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sp>
        <p:nvSpPr>
          <p:cNvPr id="3" name="Freeform 3"/>
          <p:cNvSpPr/>
          <p:nvPr/>
        </p:nvSpPr>
        <p:spPr>
          <a:xfrm rot="-2597888">
            <a:off x="-9562864" y="13244193"/>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sp>
        <p:nvSpPr>
          <p:cNvPr id="4" name="Freeform 4"/>
          <p:cNvSpPr/>
          <p:nvPr/>
        </p:nvSpPr>
        <p:spPr>
          <a:xfrm>
            <a:off x="-282172" y="841375"/>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rot="8100000">
            <a:off x="3226936" y="7348024"/>
            <a:ext cx="2278411" cy="2305153"/>
            <a:chOff x="0" y="0"/>
            <a:chExt cx="3037881" cy="3073538"/>
          </a:xfrm>
        </p:grpSpPr>
        <p:sp>
          <p:nvSpPr>
            <p:cNvPr id="6" name="Freeform 6"/>
            <p:cNvSpPr/>
            <p:nvPr/>
          </p:nvSpPr>
          <p:spPr>
            <a:xfrm flipH="1">
              <a:off x="0" y="334507"/>
              <a:ext cx="2774341" cy="2739031"/>
            </a:xfrm>
            <a:custGeom>
              <a:avLst/>
              <a:gdLst/>
              <a:ahLst/>
              <a:cxnLst/>
              <a:rect l="l" t="t" r="r" b="b"/>
              <a:pathLst>
                <a:path w="2774341" h="2739031">
                  <a:moveTo>
                    <a:pt x="2774341" y="0"/>
                  </a:moveTo>
                  <a:lnTo>
                    <a:pt x="0" y="0"/>
                  </a:lnTo>
                  <a:lnTo>
                    <a:pt x="0" y="2739031"/>
                  </a:lnTo>
                  <a:lnTo>
                    <a:pt x="2774341" y="2739031"/>
                  </a:lnTo>
                  <a:lnTo>
                    <a:pt x="2774341"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7" name="Freeform 7"/>
            <p:cNvSpPr/>
            <p:nvPr/>
          </p:nvSpPr>
          <p:spPr>
            <a:xfrm flipH="1">
              <a:off x="263541" y="0"/>
              <a:ext cx="2774341" cy="2739031"/>
            </a:xfrm>
            <a:custGeom>
              <a:avLst/>
              <a:gdLst/>
              <a:ahLst/>
              <a:cxnLst/>
              <a:rect l="l" t="t" r="r" b="b"/>
              <a:pathLst>
                <a:path w="2774341" h="2739031">
                  <a:moveTo>
                    <a:pt x="2774340" y="0"/>
                  </a:moveTo>
                  <a:lnTo>
                    <a:pt x="0" y="0"/>
                  </a:lnTo>
                  <a:lnTo>
                    <a:pt x="0" y="2739031"/>
                  </a:lnTo>
                  <a:lnTo>
                    <a:pt x="2774340" y="2739031"/>
                  </a:lnTo>
                  <a:lnTo>
                    <a:pt x="2774340" y="0"/>
                  </a:lnTo>
                  <a:close/>
                </a:path>
              </a:pathLst>
            </a:custGeom>
            <a:blipFill>
              <a:blip r:embed="rId7">
                <a:extLst>
                  <a:ext uri="{96DAC541-7B7A-43D3-8B79-37D633B846F1}">
                    <asvg:svgBlip xmlns:asvg="http://schemas.microsoft.com/office/drawing/2016/SVG/main" r:embed="rId8"/>
                  </a:ext>
                </a:extLst>
              </a:blip>
              <a:stretch>
                <a:fillRect/>
              </a:stretch>
            </a:blipFill>
          </p:spPr>
        </p:sp>
      </p:grpSp>
      <p:grpSp>
        <p:nvGrpSpPr>
          <p:cNvPr id="8" name="Group 8"/>
          <p:cNvGrpSpPr/>
          <p:nvPr/>
        </p:nvGrpSpPr>
        <p:grpSpPr>
          <a:xfrm rot="-10716111">
            <a:off x="6728032" y="4962088"/>
            <a:ext cx="1304103" cy="1319410"/>
            <a:chOff x="0" y="0"/>
            <a:chExt cx="1738804" cy="1759213"/>
          </a:xfrm>
        </p:grpSpPr>
        <p:sp>
          <p:nvSpPr>
            <p:cNvPr id="9" name="Freeform 9"/>
            <p:cNvSpPr/>
            <p:nvPr/>
          </p:nvSpPr>
          <p:spPr>
            <a:xfrm flipH="1">
              <a:off x="0" y="191463"/>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10" name="Freeform 10"/>
            <p:cNvSpPr/>
            <p:nvPr/>
          </p:nvSpPr>
          <p:spPr>
            <a:xfrm flipH="1">
              <a:off x="150844" y="0"/>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11" name="Freeform 11"/>
          <p:cNvSpPr/>
          <p:nvPr/>
        </p:nvSpPr>
        <p:spPr>
          <a:xfrm>
            <a:off x="38498" y="590749"/>
            <a:ext cx="18211004" cy="9105502"/>
          </a:xfrm>
          <a:custGeom>
            <a:avLst/>
            <a:gdLst/>
            <a:ahLst/>
            <a:cxnLst/>
            <a:rect l="l" t="t" r="r" b="b"/>
            <a:pathLst>
              <a:path w="18211004" h="9105502">
                <a:moveTo>
                  <a:pt x="0" y="0"/>
                </a:moveTo>
                <a:lnTo>
                  <a:pt x="18211004" y="0"/>
                </a:lnTo>
                <a:lnTo>
                  <a:pt x="18211004" y="9105502"/>
                </a:lnTo>
                <a:lnTo>
                  <a:pt x="0" y="9105502"/>
                </a:lnTo>
                <a:lnTo>
                  <a:pt x="0" y="0"/>
                </a:lnTo>
                <a:close/>
              </a:path>
            </a:pathLst>
          </a:custGeom>
          <a:blipFill>
            <a:blip r:embed="rId9"/>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17793" y="4775687"/>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sp>
        <p:nvSpPr>
          <p:cNvPr id="3" name="Freeform 3"/>
          <p:cNvSpPr/>
          <p:nvPr/>
        </p:nvSpPr>
        <p:spPr>
          <a:xfrm rot="-2597888">
            <a:off x="-9562864" y="13244193"/>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sp>
        <p:nvSpPr>
          <p:cNvPr id="4" name="Freeform 4"/>
          <p:cNvSpPr/>
          <p:nvPr/>
        </p:nvSpPr>
        <p:spPr>
          <a:xfrm>
            <a:off x="-282172" y="841375"/>
            <a:ext cx="18570172" cy="9975562"/>
          </a:xfrm>
          <a:custGeom>
            <a:avLst/>
            <a:gdLst/>
            <a:ahLst/>
            <a:cxnLst/>
            <a:rect l="l" t="t" r="r" b="b"/>
            <a:pathLst>
              <a:path w="18570172" h="9975562">
                <a:moveTo>
                  <a:pt x="0" y="0"/>
                </a:moveTo>
                <a:lnTo>
                  <a:pt x="18570172" y="0"/>
                </a:lnTo>
                <a:lnTo>
                  <a:pt x="18570172" y="9975562"/>
                </a:lnTo>
                <a:lnTo>
                  <a:pt x="0" y="9975562"/>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rot="8100000">
            <a:off x="3226936" y="7348024"/>
            <a:ext cx="2278411" cy="2305153"/>
            <a:chOff x="0" y="0"/>
            <a:chExt cx="3037881" cy="3073538"/>
          </a:xfrm>
        </p:grpSpPr>
        <p:sp>
          <p:nvSpPr>
            <p:cNvPr id="6" name="Freeform 6"/>
            <p:cNvSpPr/>
            <p:nvPr/>
          </p:nvSpPr>
          <p:spPr>
            <a:xfrm flipH="1">
              <a:off x="0" y="334507"/>
              <a:ext cx="2774341" cy="2739031"/>
            </a:xfrm>
            <a:custGeom>
              <a:avLst/>
              <a:gdLst/>
              <a:ahLst/>
              <a:cxnLst/>
              <a:rect l="l" t="t" r="r" b="b"/>
              <a:pathLst>
                <a:path w="2774341" h="2739031">
                  <a:moveTo>
                    <a:pt x="2774341" y="0"/>
                  </a:moveTo>
                  <a:lnTo>
                    <a:pt x="0" y="0"/>
                  </a:lnTo>
                  <a:lnTo>
                    <a:pt x="0" y="2739031"/>
                  </a:lnTo>
                  <a:lnTo>
                    <a:pt x="2774341" y="2739031"/>
                  </a:lnTo>
                  <a:lnTo>
                    <a:pt x="2774341"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7" name="Freeform 7"/>
            <p:cNvSpPr/>
            <p:nvPr/>
          </p:nvSpPr>
          <p:spPr>
            <a:xfrm flipH="1">
              <a:off x="263541" y="0"/>
              <a:ext cx="2774341" cy="2739031"/>
            </a:xfrm>
            <a:custGeom>
              <a:avLst/>
              <a:gdLst/>
              <a:ahLst/>
              <a:cxnLst/>
              <a:rect l="l" t="t" r="r" b="b"/>
              <a:pathLst>
                <a:path w="2774341" h="2739031">
                  <a:moveTo>
                    <a:pt x="2774340" y="0"/>
                  </a:moveTo>
                  <a:lnTo>
                    <a:pt x="0" y="0"/>
                  </a:lnTo>
                  <a:lnTo>
                    <a:pt x="0" y="2739031"/>
                  </a:lnTo>
                  <a:lnTo>
                    <a:pt x="2774340" y="2739031"/>
                  </a:lnTo>
                  <a:lnTo>
                    <a:pt x="2774340" y="0"/>
                  </a:lnTo>
                  <a:close/>
                </a:path>
              </a:pathLst>
            </a:custGeom>
            <a:blipFill>
              <a:blip r:embed="rId7">
                <a:extLst>
                  <a:ext uri="{96DAC541-7B7A-43D3-8B79-37D633B846F1}">
                    <asvg:svgBlip xmlns:asvg="http://schemas.microsoft.com/office/drawing/2016/SVG/main" r:embed="rId8"/>
                  </a:ext>
                </a:extLst>
              </a:blip>
              <a:stretch>
                <a:fillRect/>
              </a:stretch>
            </a:blipFill>
          </p:spPr>
        </p:sp>
      </p:grpSp>
      <p:grpSp>
        <p:nvGrpSpPr>
          <p:cNvPr id="8" name="Group 8"/>
          <p:cNvGrpSpPr/>
          <p:nvPr/>
        </p:nvGrpSpPr>
        <p:grpSpPr>
          <a:xfrm rot="-10716111">
            <a:off x="6728032" y="4962088"/>
            <a:ext cx="1304103" cy="1319410"/>
            <a:chOff x="0" y="0"/>
            <a:chExt cx="1738804" cy="1759213"/>
          </a:xfrm>
        </p:grpSpPr>
        <p:sp>
          <p:nvSpPr>
            <p:cNvPr id="9" name="Freeform 9"/>
            <p:cNvSpPr/>
            <p:nvPr/>
          </p:nvSpPr>
          <p:spPr>
            <a:xfrm flipH="1">
              <a:off x="0" y="191463"/>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10" name="Freeform 10"/>
            <p:cNvSpPr/>
            <p:nvPr/>
          </p:nvSpPr>
          <p:spPr>
            <a:xfrm flipH="1">
              <a:off x="150844" y="0"/>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7">
                <a:extLst>
                  <a:ext uri="{96DAC541-7B7A-43D3-8B79-37D633B846F1}">
                    <asvg:svgBlip xmlns:asvg="http://schemas.microsoft.com/office/drawing/2016/SVG/main" r:embed="rId8"/>
                  </a:ext>
                </a:extLst>
              </a:blip>
              <a:stretch>
                <a:fillRect/>
              </a:stretch>
            </a:blipFill>
          </p:spPr>
        </p:sp>
      </p:grpSp>
      <p:sp>
        <p:nvSpPr>
          <p:cNvPr id="11" name="Freeform 11"/>
          <p:cNvSpPr/>
          <p:nvPr/>
        </p:nvSpPr>
        <p:spPr>
          <a:xfrm>
            <a:off x="0" y="571500"/>
            <a:ext cx="18288000" cy="9144000"/>
          </a:xfrm>
          <a:custGeom>
            <a:avLst/>
            <a:gdLst/>
            <a:ahLst/>
            <a:cxnLst/>
            <a:rect l="l" t="t" r="r" b="b"/>
            <a:pathLst>
              <a:path w="18288000" h="9144000">
                <a:moveTo>
                  <a:pt x="0" y="0"/>
                </a:moveTo>
                <a:lnTo>
                  <a:pt x="18288000" y="0"/>
                </a:lnTo>
                <a:lnTo>
                  <a:pt x="18288000" y="9144000"/>
                </a:lnTo>
                <a:lnTo>
                  <a:pt x="0" y="9144000"/>
                </a:lnTo>
                <a:lnTo>
                  <a:pt x="0" y="0"/>
                </a:lnTo>
                <a:close/>
              </a:path>
            </a:pathLst>
          </a:custGeom>
          <a:blipFill>
            <a:blip r:embed="rId9"/>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597888">
            <a:off x="-9562864" y="13244193"/>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grpSp>
        <p:nvGrpSpPr>
          <p:cNvPr id="3" name="Group 3"/>
          <p:cNvGrpSpPr/>
          <p:nvPr/>
        </p:nvGrpSpPr>
        <p:grpSpPr>
          <a:xfrm rot="8100000">
            <a:off x="3226936" y="7348024"/>
            <a:ext cx="2278411" cy="2305153"/>
            <a:chOff x="0" y="0"/>
            <a:chExt cx="3037881" cy="3073538"/>
          </a:xfrm>
        </p:grpSpPr>
        <p:sp>
          <p:nvSpPr>
            <p:cNvPr id="4" name="Freeform 4"/>
            <p:cNvSpPr/>
            <p:nvPr/>
          </p:nvSpPr>
          <p:spPr>
            <a:xfrm flipH="1">
              <a:off x="0" y="334507"/>
              <a:ext cx="2774341" cy="2739031"/>
            </a:xfrm>
            <a:custGeom>
              <a:avLst/>
              <a:gdLst/>
              <a:ahLst/>
              <a:cxnLst/>
              <a:rect l="l" t="t" r="r" b="b"/>
              <a:pathLst>
                <a:path w="2774341" h="2739031">
                  <a:moveTo>
                    <a:pt x="2774341" y="0"/>
                  </a:moveTo>
                  <a:lnTo>
                    <a:pt x="0" y="0"/>
                  </a:lnTo>
                  <a:lnTo>
                    <a:pt x="0" y="2739031"/>
                  </a:lnTo>
                  <a:lnTo>
                    <a:pt x="2774341" y="2739031"/>
                  </a:lnTo>
                  <a:lnTo>
                    <a:pt x="2774341"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263541" y="0"/>
              <a:ext cx="2774341" cy="2739031"/>
            </a:xfrm>
            <a:custGeom>
              <a:avLst/>
              <a:gdLst/>
              <a:ahLst/>
              <a:cxnLst/>
              <a:rect l="l" t="t" r="r" b="b"/>
              <a:pathLst>
                <a:path w="2774341" h="2739031">
                  <a:moveTo>
                    <a:pt x="2774340" y="0"/>
                  </a:moveTo>
                  <a:lnTo>
                    <a:pt x="0" y="0"/>
                  </a:lnTo>
                  <a:lnTo>
                    <a:pt x="0" y="2739031"/>
                  </a:lnTo>
                  <a:lnTo>
                    <a:pt x="2774340" y="2739031"/>
                  </a:lnTo>
                  <a:lnTo>
                    <a:pt x="277434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6" name="Group 6"/>
          <p:cNvGrpSpPr/>
          <p:nvPr/>
        </p:nvGrpSpPr>
        <p:grpSpPr>
          <a:xfrm rot="-10716111">
            <a:off x="6728032" y="4962088"/>
            <a:ext cx="1304103" cy="1319410"/>
            <a:chOff x="0" y="0"/>
            <a:chExt cx="1738804" cy="1759213"/>
          </a:xfrm>
        </p:grpSpPr>
        <p:sp>
          <p:nvSpPr>
            <p:cNvPr id="7" name="Freeform 7"/>
            <p:cNvSpPr/>
            <p:nvPr/>
          </p:nvSpPr>
          <p:spPr>
            <a:xfrm flipH="1">
              <a:off x="0" y="191463"/>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sp>
        <p:sp>
          <p:nvSpPr>
            <p:cNvPr id="8" name="Freeform 8"/>
            <p:cNvSpPr/>
            <p:nvPr/>
          </p:nvSpPr>
          <p:spPr>
            <a:xfrm flipH="1">
              <a:off x="150844" y="0"/>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9" name="Freeform 9"/>
          <p:cNvSpPr/>
          <p:nvPr/>
        </p:nvSpPr>
        <p:spPr>
          <a:xfrm>
            <a:off x="2598300" y="234225"/>
            <a:ext cx="13182547" cy="9886910"/>
          </a:xfrm>
          <a:custGeom>
            <a:avLst/>
            <a:gdLst/>
            <a:ahLst/>
            <a:cxnLst/>
            <a:rect l="l" t="t" r="r" b="b"/>
            <a:pathLst>
              <a:path w="13182547" h="9886910">
                <a:moveTo>
                  <a:pt x="0" y="0"/>
                </a:moveTo>
                <a:lnTo>
                  <a:pt x="13182548" y="0"/>
                </a:lnTo>
                <a:lnTo>
                  <a:pt x="13182548" y="9886911"/>
                </a:lnTo>
                <a:lnTo>
                  <a:pt x="0" y="9886911"/>
                </a:lnTo>
                <a:lnTo>
                  <a:pt x="0" y="0"/>
                </a:lnTo>
                <a:close/>
              </a:path>
            </a:pathLst>
          </a:custGeom>
          <a:blipFill>
            <a:blip r:embed="rId7"/>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8839" y="112404"/>
            <a:ext cx="17075245" cy="10245147"/>
          </a:xfrm>
          <a:custGeom>
            <a:avLst/>
            <a:gdLst/>
            <a:ahLst/>
            <a:cxnLst/>
            <a:rect l="l" t="t" r="r" b="b"/>
            <a:pathLst>
              <a:path w="17075245" h="10245147">
                <a:moveTo>
                  <a:pt x="0" y="0"/>
                </a:moveTo>
                <a:lnTo>
                  <a:pt x="17075245" y="0"/>
                </a:lnTo>
                <a:lnTo>
                  <a:pt x="17075245" y="10245147"/>
                </a:lnTo>
                <a:lnTo>
                  <a:pt x="0" y="10245147"/>
                </a:lnTo>
                <a:lnTo>
                  <a:pt x="0" y="0"/>
                </a:lnTo>
                <a:close/>
              </a:path>
            </a:pathLst>
          </a:custGeom>
          <a:blipFill>
            <a:blip r:embed="rId2"/>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17793" y="4775687"/>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sp>
        <p:nvSpPr>
          <p:cNvPr id="3" name="Freeform 3"/>
          <p:cNvSpPr/>
          <p:nvPr/>
        </p:nvSpPr>
        <p:spPr>
          <a:xfrm rot="-2597888">
            <a:off x="-9562864" y="13244193"/>
            <a:ext cx="16351602" cy="1692212"/>
          </a:xfrm>
          <a:custGeom>
            <a:avLst/>
            <a:gdLst/>
            <a:ahLst/>
            <a:cxnLst/>
            <a:rect l="l" t="t" r="r" b="b"/>
            <a:pathLst>
              <a:path w="16351602" h="1692212">
                <a:moveTo>
                  <a:pt x="0" y="0"/>
                </a:moveTo>
                <a:lnTo>
                  <a:pt x="16351602" y="0"/>
                </a:lnTo>
                <a:lnTo>
                  <a:pt x="16351602" y="1692212"/>
                </a:lnTo>
                <a:lnTo>
                  <a:pt x="0" y="1692212"/>
                </a:lnTo>
                <a:lnTo>
                  <a:pt x="0" y="0"/>
                </a:lnTo>
                <a:close/>
              </a:path>
            </a:pathLst>
          </a:custGeom>
          <a:blipFill>
            <a:blip r:embed="rId2"/>
            <a:stretch>
              <a:fillRect/>
            </a:stretch>
          </a:blipFill>
        </p:spPr>
      </p:sp>
      <p:grpSp>
        <p:nvGrpSpPr>
          <p:cNvPr id="4" name="Group 4"/>
          <p:cNvGrpSpPr/>
          <p:nvPr/>
        </p:nvGrpSpPr>
        <p:grpSpPr>
          <a:xfrm rot="8100000">
            <a:off x="3226936" y="7348024"/>
            <a:ext cx="2278411" cy="2305153"/>
            <a:chOff x="0" y="0"/>
            <a:chExt cx="3037881" cy="3073538"/>
          </a:xfrm>
        </p:grpSpPr>
        <p:sp>
          <p:nvSpPr>
            <p:cNvPr id="5" name="Freeform 5"/>
            <p:cNvSpPr/>
            <p:nvPr/>
          </p:nvSpPr>
          <p:spPr>
            <a:xfrm flipH="1">
              <a:off x="0" y="334507"/>
              <a:ext cx="2774341" cy="2739031"/>
            </a:xfrm>
            <a:custGeom>
              <a:avLst/>
              <a:gdLst/>
              <a:ahLst/>
              <a:cxnLst/>
              <a:rect l="l" t="t" r="r" b="b"/>
              <a:pathLst>
                <a:path w="2774341" h="2739031">
                  <a:moveTo>
                    <a:pt x="2774341" y="0"/>
                  </a:moveTo>
                  <a:lnTo>
                    <a:pt x="0" y="0"/>
                  </a:lnTo>
                  <a:lnTo>
                    <a:pt x="0" y="2739031"/>
                  </a:lnTo>
                  <a:lnTo>
                    <a:pt x="2774341" y="2739031"/>
                  </a:lnTo>
                  <a:lnTo>
                    <a:pt x="2774341"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263541" y="0"/>
              <a:ext cx="2774341" cy="2739031"/>
            </a:xfrm>
            <a:custGeom>
              <a:avLst/>
              <a:gdLst/>
              <a:ahLst/>
              <a:cxnLst/>
              <a:rect l="l" t="t" r="r" b="b"/>
              <a:pathLst>
                <a:path w="2774341" h="2739031">
                  <a:moveTo>
                    <a:pt x="2774340" y="0"/>
                  </a:moveTo>
                  <a:lnTo>
                    <a:pt x="0" y="0"/>
                  </a:lnTo>
                  <a:lnTo>
                    <a:pt x="0" y="2739031"/>
                  </a:lnTo>
                  <a:lnTo>
                    <a:pt x="2774340" y="2739031"/>
                  </a:lnTo>
                  <a:lnTo>
                    <a:pt x="277434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7" name="Group 7"/>
          <p:cNvGrpSpPr/>
          <p:nvPr/>
        </p:nvGrpSpPr>
        <p:grpSpPr>
          <a:xfrm rot="-10716111">
            <a:off x="6728032" y="4962088"/>
            <a:ext cx="1304103" cy="1319410"/>
            <a:chOff x="0" y="0"/>
            <a:chExt cx="1738804" cy="1759213"/>
          </a:xfrm>
        </p:grpSpPr>
        <p:sp>
          <p:nvSpPr>
            <p:cNvPr id="8" name="Freeform 8"/>
            <p:cNvSpPr/>
            <p:nvPr/>
          </p:nvSpPr>
          <p:spPr>
            <a:xfrm flipH="1">
              <a:off x="0" y="191463"/>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sp>
        <p:sp>
          <p:nvSpPr>
            <p:cNvPr id="9" name="Freeform 9"/>
            <p:cNvSpPr/>
            <p:nvPr/>
          </p:nvSpPr>
          <p:spPr>
            <a:xfrm flipH="1">
              <a:off x="150844" y="0"/>
              <a:ext cx="1587960" cy="1567750"/>
            </a:xfrm>
            <a:custGeom>
              <a:avLst/>
              <a:gdLst/>
              <a:ahLst/>
              <a:cxnLst/>
              <a:rect l="l" t="t" r="r" b="b"/>
              <a:pathLst>
                <a:path w="1587960" h="1567750">
                  <a:moveTo>
                    <a:pt x="1587960" y="0"/>
                  </a:moveTo>
                  <a:lnTo>
                    <a:pt x="0" y="0"/>
                  </a:lnTo>
                  <a:lnTo>
                    <a:pt x="0" y="1567750"/>
                  </a:lnTo>
                  <a:lnTo>
                    <a:pt x="1587960" y="1567750"/>
                  </a:lnTo>
                  <a:lnTo>
                    <a:pt x="158796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10" name="Freeform 10"/>
          <p:cNvSpPr/>
          <p:nvPr/>
        </p:nvSpPr>
        <p:spPr>
          <a:xfrm>
            <a:off x="1657350" y="651510"/>
            <a:ext cx="14973300" cy="8983980"/>
          </a:xfrm>
          <a:custGeom>
            <a:avLst/>
            <a:gdLst/>
            <a:ahLst/>
            <a:cxnLst/>
            <a:rect l="l" t="t" r="r" b="b"/>
            <a:pathLst>
              <a:path w="14973300" h="8983980">
                <a:moveTo>
                  <a:pt x="0" y="0"/>
                </a:moveTo>
                <a:lnTo>
                  <a:pt x="14973300" y="0"/>
                </a:lnTo>
                <a:lnTo>
                  <a:pt x="14973300" y="8983980"/>
                </a:lnTo>
                <a:lnTo>
                  <a:pt x="0" y="8983980"/>
                </a:lnTo>
                <a:lnTo>
                  <a:pt x="0" y="0"/>
                </a:lnTo>
                <a:close/>
              </a:path>
            </a:pathLst>
          </a:custGeom>
          <a:blipFill>
            <a:blip r:embed="rId7"/>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6802" r="-29198" b="-26225"/>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42B9DD">
                    <a:alpha val="63000"/>
                  </a:srgbClr>
                </a:gs>
                <a:gs pos="100000">
                  <a:srgbClr val="D67D48">
                    <a:alpha val="63000"/>
                  </a:srgbClr>
                </a:gs>
              </a:gsLst>
              <a:lin ang="54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411453" y="3111001"/>
            <a:ext cx="12342121" cy="4670006"/>
          </a:xfrm>
          <a:prstGeom prst="rect">
            <a:avLst/>
          </a:prstGeom>
        </p:spPr>
        <p:txBody>
          <a:bodyPr lIns="0" tIns="0" rIns="0" bIns="0" rtlCol="0" anchor="t">
            <a:spAutoFit/>
          </a:bodyPr>
          <a:lstStyle/>
          <a:p>
            <a:pPr algn="l">
              <a:lnSpc>
                <a:spcPts val="11632"/>
              </a:lnSpc>
            </a:pPr>
            <a:r>
              <a:rPr lang="en-US" sz="9693" b="1">
                <a:solidFill>
                  <a:srgbClr val="FFFFFF"/>
                </a:solidFill>
                <a:latin typeface="Heading Now 71-78 Bold"/>
                <a:ea typeface="Heading Now 71-78 Bold"/>
                <a:cs typeface="Heading Now 71-78 Bold"/>
                <a:sym typeface="Heading Now 71-78 Bold"/>
              </a:rPr>
              <a:t>MERCI POUR VOTRE ATTENTION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42B9DD">
                <a:alpha val="100000"/>
              </a:srgbClr>
            </a:gs>
            <a:gs pos="100000">
              <a:srgbClr val="D67D4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2108511">
            <a:off x="-1877605" y="4048629"/>
            <a:ext cx="8507209" cy="5729821"/>
          </a:xfrm>
          <a:custGeom>
            <a:avLst/>
            <a:gdLst/>
            <a:ahLst/>
            <a:cxnLst/>
            <a:rect l="l" t="t" r="r" b="b"/>
            <a:pathLst>
              <a:path w="8507209" h="5729821">
                <a:moveTo>
                  <a:pt x="0" y="0"/>
                </a:moveTo>
                <a:lnTo>
                  <a:pt x="8507209" y="0"/>
                </a:lnTo>
                <a:lnTo>
                  <a:pt x="8507209" y="5729822"/>
                </a:lnTo>
                <a:lnTo>
                  <a:pt x="0" y="5729822"/>
                </a:lnTo>
                <a:lnTo>
                  <a:pt x="0" y="0"/>
                </a:lnTo>
                <a:close/>
              </a:path>
            </a:pathLst>
          </a:custGeom>
          <a:blipFill>
            <a:blip r:embed="rId2"/>
            <a:stretch>
              <a:fillRect/>
            </a:stretch>
          </a:blipFill>
        </p:spPr>
      </p:sp>
      <p:sp>
        <p:nvSpPr>
          <p:cNvPr id="3" name="Freeform 3"/>
          <p:cNvSpPr/>
          <p:nvPr/>
        </p:nvSpPr>
        <p:spPr>
          <a:xfrm rot="-2190653">
            <a:off x="-6368032" y="12033588"/>
            <a:ext cx="16351602" cy="1692212"/>
          </a:xfrm>
          <a:custGeom>
            <a:avLst/>
            <a:gdLst/>
            <a:ahLst/>
            <a:cxnLst/>
            <a:rect l="l" t="t" r="r" b="b"/>
            <a:pathLst>
              <a:path w="16351602" h="1692212">
                <a:moveTo>
                  <a:pt x="0" y="0"/>
                </a:moveTo>
                <a:lnTo>
                  <a:pt x="16351603" y="0"/>
                </a:lnTo>
                <a:lnTo>
                  <a:pt x="16351603" y="1692212"/>
                </a:lnTo>
                <a:lnTo>
                  <a:pt x="0" y="1692212"/>
                </a:lnTo>
                <a:lnTo>
                  <a:pt x="0" y="0"/>
                </a:lnTo>
                <a:close/>
              </a:path>
            </a:pathLst>
          </a:custGeom>
          <a:blipFill>
            <a:blip r:embed="rId3"/>
            <a:stretch>
              <a:fillRect/>
            </a:stretch>
          </a:blipFill>
        </p:spPr>
      </p:sp>
      <p:sp>
        <p:nvSpPr>
          <p:cNvPr id="4" name="Freeform 4"/>
          <p:cNvSpPr/>
          <p:nvPr/>
        </p:nvSpPr>
        <p:spPr>
          <a:xfrm>
            <a:off x="416361" y="924249"/>
            <a:ext cx="18570172" cy="9975562"/>
          </a:xfrm>
          <a:custGeom>
            <a:avLst/>
            <a:gdLst/>
            <a:ahLst/>
            <a:cxnLst/>
            <a:rect l="l" t="t" r="r" b="b"/>
            <a:pathLst>
              <a:path w="18570172" h="9975562">
                <a:moveTo>
                  <a:pt x="0" y="0"/>
                </a:moveTo>
                <a:lnTo>
                  <a:pt x="18570172" y="0"/>
                </a:lnTo>
                <a:lnTo>
                  <a:pt x="18570172" y="9975561"/>
                </a:lnTo>
                <a:lnTo>
                  <a:pt x="0" y="9975561"/>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txBody>
          <a:bodyPr/>
          <a:lstStyle/>
          <a:p>
            <a:endParaRPr lang="fr-FR" dirty="0"/>
          </a:p>
        </p:txBody>
      </p:sp>
      <p:grpSp>
        <p:nvGrpSpPr>
          <p:cNvPr id="5" name="Group 5"/>
          <p:cNvGrpSpPr/>
          <p:nvPr/>
        </p:nvGrpSpPr>
        <p:grpSpPr>
          <a:xfrm rot="8784852">
            <a:off x="3260869" y="1763412"/>
            <a:ext cx="4506174" cy="4559064"/>
            <a:chOff x="0" y="0"/>
            <a:chExt cx="6008231" cy="6078752"/>
          </a:xfrm>
        </p:grpSpPr>
        <p:sp>
          <p:nvSpPr>
            <p:cNvPr id="6" name="Freeform 6"/>
            <p:cNvSpPr/>
            <p:nvPr/>
          </p:nvSpPr>
          <p:spPr>
            <a:xfrm flipH="1">
              <a:off x="0" y="661578"/>
              <a:ext cx="5487009" cy="5417174"/>
            </a:xfrm>
            <a:custGeom>
              <a:avLst/>
              <a:gdLst/>
              <a:ahLst/>
              <a:cxnLst/>
              <a:rect l="l" t="t" r="r" b="b"/>
              <a:pathLst>
                <a:path w="5487009" h="5417174">
                  <a:moveTo>
                    <a:pt x="5487009" y="0"/>
                  </a:moveTo>
                  <a:lnTo>
                    <a:pt x="0" y="0"/>
                  </a:lnTo>
                  <a:lnTo>
                    <a:pt x="0" y="5417174"/>
                  </a:lnTo>
                  <a:lnTo>
                    <a:pt x="5487009" y="5417174"/>
                  </a:lnTo>
                  <a:lnTo>
                    <a:pt x="5487009"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sp>
        <p:sp>
          <p:nvSpPr>
            <p:cNvPr id="7" name="Freeform 7"/>
            <p:cNvSpPr/>
            <p:nvPr/>
          </p:nvSpPr>
          <p:spPr>
            <a:xfrm flipH="1">
              <a:off x="521223" y="0"/>
              <a:ext cx="5487009" cy="5417174"/>
            </a:xfrm>
            <a:custGeom>
              <a:avLst/>
              <a:gdLst/>
              <a:ahLst/>
              <a:cxnLst/>
              <a:rect l="l" t="t" r="r" b="b"/>
              <a:pathLst>
                <a:path w="5487009" h="5417174">
                  <a:moveTo>
                    <a:pt x="5487008" y="0"/>
                  </a:moveTo>
                  <a:lnTo>
                    <a:pt x="0" y="0"/>
                  </a:lnTo>
                  <a:lnTo>
                    <a:pt x="0" y="5417174"/>
                  </a:lnTo>
                  <a:lnTo>
                    <a:pt x="5487008" y="5417174"/>
                  </a:lnTo>
                  <a:lnTo>
                    <a:pt x="5487008" y="0"/>
                  </a:lnTo>
                  <a:close/>
                </a:path>
              </a:pathLst>
            </a:custGeom>
            <a:blipFill>
              <a:blip r:embed="rId8">
                <a:extLst>
                  <a:ext uri="{96DAC541-7B7A-43D3-8B79-37D633B846F1}">
                    <asvg:svgBlip xmlns:asvg="http://schemas.microsoft.com/office/drawing/2016/SVG/main" r:embed="rId9"/>
                  </a:ext>
                </a:extLst>
              </a:blip>
              <a:stretch>
                <a:fillRect/>
              </a:stretch>
            </a:blipFill>
          </p:spPr>
        </p:sp>
      </p:grpSp>
      <p:grpSp>
        <p:nvGrpSpPr>
          <p:cNvPr id="8" name="Group 8"/>
          <p:cNvGrpSpPr/>
          <p:nvPr/>
        </p:nvGrpSpPr>
        <p:grpSpPr>
          <a:xfrm rot="8623986">
            <a:off x="6884073" y="7193750"/>
            <a:ext cx="2028219" cy="2052025"/>
            <a:chOff x="0" y="0"/>
            <a:chExt cx="2704292" cy="2736033"/>
          </a:xfrm>
        </p:grpSpPr>
        <p:sp>
          <p:nvSpPr>
            <p:cNvPr id="9" name="Freeform 9"/>
            <p:cNvSpPr/>
            <p:nvPr/>
          </p:nvSpPr>
          <p:spPr>
            <a:xfrm flipH="1">
              <a:off x="0" y="297775"/>
              <a:ext cx="2469691" cy="2438258"/>
            </a:xfrm>
            <a:custGeom>
              <a:avLst/>
              <a:gdLst/>
              <a:ahLst/>
              <a:cxnLst/>
              <a:rect l="l" t="t" r="r" b="b"/>
              <a:pathLst>
                <a:path w="2469691" h="2438258">
                  <a:moveTo>
                    <a:pt x="2469691" y="0"/>
                  </a:moveTo>
                  <a:lnTo>
                    <a:pt x="0" y="0"/>
                  </a:lnTo>
                  <a:lnTo>
                    <a:pt x="0" y="2438258"/>
                  </a:lnTo>
                  <a:lnTo>
                    <a:pt x="2469691" y="2438258"/>
                  </a:lnTo>
                  <a:lnTo>
                    <a:pt x="2469691"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sp>
        <p:sp>
          <p:nvSpPr>
            <p:cNvPr id="10" name="Freeform 10"/>
            <p:cNvSpPr/>
            <p:nvPr/>
          </p:nvSpPr>
          <p:spPr>
            <a:xfrm flipH="1">
              <a:off x="234601" y="0"/>
              <a:ext cx="2469691" cy="2438258"/>
            </a:xfrm>
            <a:custGeom>
              <a:avLst/>
              <a:gdLst/>
              <a:ahLst/>
              <a:cxnLst/>
              <a:rect l="l" t="t" r="r" b="b"/>
              <a:pathLst>
                <a:path w="2469691" h="2438258">
                  <a:moveTo>
                    <a:pt x="2469691" y="0"/>
                  </a:moveTo>
                  <a:lnTo>
                    <a:pt x="0" y="0"/>
                  </a:lnTo>
                  <a:lnTo>
                    <a:pt x="0" y="2438258"/>
                  </a:lnTo>
                  <a:lnTo>
                    <a:pt x="2469691" y="2438258"/>
                  </a:lnTo>
                  <a:lnTo>
                    <a:pt x="2469691" y="0"/>
                  </a:lnTo>
                  <a:close/>
                </a:path>
              </a:pathLst>
            </a:custGeom>
            <a:blipFill>
              <a:blip r:embed="rId8">
                <a:extLst>
                  <a:ext uri="{96DAC541-7B7A-43D3-8B79-37D633B846F1}">
                    <asvg:svgBlip xmlns:asvg="http://schemas.microsoft.com/office/drawing/2016/SVG/main" r:embed="rId9"/>
                  </a:ext>
                </a:extLst>
              </a:blip>
              <a:stretch>
                <a:fillRect/>
              </a:stretch>
            </a:blipFill>
          </p:spPr>
        </p:sp>
      </p:grpSp>
      <p:grpSp>
        <p:nvGrpSpPr>
          <p:cNvPr id="11" name="Group 11"/>
          <p:cNvGrpSpPr/>
          <p:nvPr/>
        </p:nvGrpSpPr>
        <p:grpSpPr>
          <a:xfrm>
            <a:off x="0" y="0"/>
            <a:ext cx="1743343" cy="10287000"/>
            <a:chOff x="0" y="0"/>
            <a:chExt cx="459152" cy="2709333"/>
          </a:xfrm>
        </p:grpSpPr>
        <p:sp>
          <p:nvSpPr>
            <p:cNvPr id="12" name="Freeform 12"/>
            <p:cNvSpPr/>
            <p:nvPr/>
          </p:nvSpPr>
          <p:spPr>
            <a:xfrm>
              <a:off x="0" y="0"/>
              <a:ext cx="459152" cy="2709333"/>
            </a:xfrm>
            <a:custGeom>
              <a:avLst/>
              <a:gdLst/>
              <a:ahLst/>
              <a:cxnLst/>
              <a:rect l="l" t="t" r="r" b="b"/>
              <a:pathLst>
                <a:path w="459152" h="2709333">
                  <a:moveTo>
                    <a:pt x="0" y="0"/>
                  </a:moveTo>
                  <a:lnTo>
                    <a:pt x="459152" y="0"/>
                  </a:lnTo>
                  <a:lnTo>
                    <a:pt x="459152" y="2709333"/>
                  </a:lnTo>
                  <a:lnTo>
                    <a:pt x="0" y="2709333"/>
                  </a:lnTo>
                  <a:close/>
                </a:path>
              </a:pathLst>
            </a:custGeom>
            <a:gradFill rotWithShape="1">
              <a:gsLst>
                <a:gs pos="0">
                  <a:srgbClr val="42B9DD">
                    <a:alpha val="100000"/>
                  </a:srgbClr>
                </a:gs>
                <a:gs pos="100000">
                  <a:srgbClr val="D67D48">
                    <a:alpha val="100000"/>
                  </a:srgbClr>
                </a:gs>
              </a:gsLst>
              <a:lin ang="5400000"/>
            </a:gradFill>
          </p:spPr>
        </p:sp>
        <p:sp>
          <p:nvSpPr>
            <p:cNvPr id="13" name="TextBox 13"/>
            <p:cNvSpPr txBox="1"/>
            <p:nvPr/>
          </p:nvSpPr>
          <p:spPr>
            <a:xfrm>
              <a:off x="0" y="-38100"/>
              <a:ext cx="459152" cy="2747433"/>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2268201" y="3251064"/>
            <a:ext cx="533399" cy="268005"/>
          </a:xfrm>
          <a:custGeom>
            <a:avLst/>
            <a:gdLst/>
            <a:ahLst/>
            <a:cxnLst/>
            <a:rect l="l" t="t" r="r" b="b"/>
            <a:pathLst>
              <a:path w="533399" h="268005">
                <a:moveTo>
                  <a:pt x="0" y="0"/>
                </a:moveTo>
                <a:lnTo>
                  <a:pt x="533399" y="0"/>
                </a:lnTo>
                <a:lnTo>
                  <a:pt x="533399" y="268005"/>
                </a:lnTo>
                <a:lnTo>
                  <a:pt x="0" y="26800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 name="Freeform 15"/>
          <p:cNvSpPr/>
          <p:nvPr/>
        </p:nvSpPr>
        <p:spPr>
          <a:xfrm>
            <a:off x="8964957" y="4042944"/>
            <a:ext cx="423444" cy="423444"/>
          </a:xfrm>
          <a:custGeom>
            <a:avLst/>
            <a:gdLst/>
            <a:ahLst/>
            <a:cxnLst/>
            <a:rect l="l" t="t" r="r" b="b"/>
            <a:pathLst>
              <a:path w="423444" h="423444">
                <a:moveTo>
                  <a:pt x="0" y="0"/>
                </a:moveTo>
                <a:lnTo>
                  <a:pt x="423444" y="0"/>
                </a:lnTo>
                <a:lnTo>
                  <a:pt x="423444" y="423444"/>
                </a:lnTo>
                <a:lnTo>
                  <a:pt x="0" y="4234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TextBox 16"/>
          <p:cNvSpPr txBox="1"/>
          <p:nvPr/>
        </p:nvSpPr>
        <p:spPr>
          <a:xfrm>
            <a:off x="8819304" y="1536564"/>
            <a:ext cx="10669433" cy="1714500"/>
          </a:xfrm>
          <a:prstGeom prst="rect">
            <a:avLst/>
          </a:prstGeom>
        </p:spPr>
        <p:txBody>
          <a:bodyPr lIns="0" tIns="0" rIns="0" bIns="0" rtlCol="0" anchor="t">
            <a:spAutoFit/>
          </a:bodyPr>
          <a:lstStyle/>
          <a:p>
            <a:pPr marL="0" lvl="0" indent="0" algn="l">
              <a:lnSpc>
                <a:spcPts val="11632"/>
              </a:lnSpc>
              <a:spcBef>
                <a:spcPct val="0"/>
              </a:spcBef>
            </a:pPr>
            <a:r>
              <a:rPr lang="en-US" sz="9693" b="1">
                <a:solidFill>
                  <a:srgbClr val="FFFFFF"/>
                </a:solidFill>
                <a:latin typeface="Heading Now 71-78 Bold"/>
                <a:ea typeface="Heading Now 71-78 Bold"/>
                <a:cs typeface="Heading Now 71-78 Bold"/>
                <a:sym typeface="Heading Now 71-78 Bold"/>
              </a:rPr>
              <a:t>CREDITS </a:t>
            </a:r>
          </a:p>
        </p:txBody>
      </p:sp>
      <p:sp>
        <p:nvSpPr>
          <p:cNvPr id="17" name="TextBox 17"/>
          <p:cNvSpPr txBox="1"/>
          <p:nvPr/>
        </p:nvSpPr>
        <p:spPr>
          <a:xfrm>
            <a:off x="9701447" y="4004844"/>
            <a:ext cx="5801458" cy="406458"/>
          </a:xfrm>
          <a:prstGeom prst="rect">
            <a:avLst/>
          </a:prstGeom>
        </p:spPr>
        <p:txBody>
          <a:bodyPr lIns="0" tIns="0" rIns="0" bIns="0" rtlCol="0" anchor="t">
            <a:spAutoFit/>
          </a:bodyPr>
          <a:lstStyle/>
          <a:p>
            <a:pPr marL="0" lvl="0" indent="0" algn="l">
              <a:lnSpc>
                <a:spcPts val="3359"/>
              </a:lnSpc>
              <a:spcBef>
                <a:spcPct val="0"/>
              </a:spcBef>
            </a:pPr>
            <a:r>
              <a:rPr lang="en-US" sz="2400" dirty="0">
                <a:solidFill>
                  <a:schemeClr val="accent6">
                    <a:lumMod val="50000"/>
                  </a:schemeClr>
                </a:solidFill>
                <a:latin typeface="Open Sans"/>
                <a:ea typeface="Open Sans"/>
                <a:cs typeface="Open Sans"/>
                <a:sym typeface="Open Sans"/>
              </a:rPr>
              <a:t>SIWAR MAAWI</a:t>
            </a:r>
          </a:p>
        </p:txBody>
      </p:sp>
      <p:sp>
        <p:nvSpPr>
          <p:cNvPr id="18" name="TextBox 18"/>
          <p:cNvSpPr txBox="1"/>
          <p:nvPr/>
        </p:nvSpPr>
        <p:spPr>
          <a:xfrm>
            <a:off x="9701447" y="4930467"/>
            <a:ext cx="4892954" cy="406458"/>
          </a:xfrm>
          <a:prstGeom prst="rect">
            <a:avLst/>
          </a:prstGeom>
        </p:spPr>
        <p:txBody>
          <a:bodyPr lIns="0" tIns="0" rIns="0" bIns="0" rtlCol="0" anchor="t">
            <a:spAutoFit/>
          </a:bodyPr>
          <a:lstStyle/>
          <a:p>
            <a:pPr marL="0" lvl="0" indent="0" algn="l">
              <a:lnSpc>
                <a:spcPts val="3359"/>
              </a:lnSpc>
              <a:spcBef>
                <a:spcPct val="0"/>
              </a:spcBef>
            </a:pPr>
            <a:r>
              <a:rPr lang="en-US" sz="2400" dirty="0">
                <a:solidFill>
                  <a:schemeClr val="accent6">
                    <a:lumMod val="50000"/>
                  </a:schemeClr>
                </a:solidFill>
                <a:latin typeface="Open Sans"/>
                <a:ea typeface="Open Sans"/>
                <a:cs typeface="Open Sans"/>
                <a:sym typeface="Open Sans"/>
              </a:rPr>
              <a:t>EMNA SOMRANI</a:t>
            </a:r>
          </a:p>
        </p:txBody>
      </p:sp>
      <p:sp>
        <p:nvSpPr>
          <p:cNvPr id="19" name="TextBox 19"/>
          <p:cNvSpPr txBox="1"/>
          <p:nvPr/>
        </p:nvSpPr>
        <p:spPr>
          <a:xfrm>
            <a:off x="9701447" y="5819026"/>
            <a:ext cx="4892954" cy="406458"/>
          </a:xfrm>
          <a:prstGeom prst="rect">
            <a:avLst/>
          </a:prstGeom>
        </p:spPr>
        <p:txBody>
          <a:bodyPr lIns="0" tIns="0" rIns="0" bIns="0" rtlCol="0" anchor="t">
            <a:spAutoFit/>
          </a:bodyPr>
          <a:lstStyle/>
          <a:p>
            <a:pPr marL="0" lvl="0" indent="0" algn="l">
              <a:lnSpc>
                <a:spcPts val="3359"/>
              </a:lnSpc>
              <a:spcBef>
                <a:spcPct val="0"/>
              </a:spcBef>
            </a:pPr>
            <a:r>
              <a:rPr lang="en-US" sz="2400" dirty="0">
                <a:solidFill>
                  <a:schemeClr val="accent6">
                    <a:lumMod val="50000"/>
                  </a:schemeClr>
                </a:solidFill>
                <a:latin typeface="Open Sans"/>
                <a:ea typeface="Open Sans"/>
                <a:cs typeface="Open Sans"/>
                <a:sym typeface="Open Sans"/>
              </a:rPr>
              <a:t>ADEM LAADHAR</a:t>
            </a:r>
          </a:p>
        </p:txBody>
      </p:sp>
      <p:sp>
        <p:nvSpPr>
          <p:cNvPr id="20" name="TextBox 20"/>
          <p:cNvSpPr txBox="1"/>
          <p:nvPr/>
        </p:nvSpPr>
        <p:spPr>
          <a:xfrm>
            <a:off x="9701447" y="6696370"/>
            <a:ext cx="4892954" cy="406458"/>
          </a:xfrm>
          <a:prstGeom prst="rect">
            <a:avLst/>
          </a:prstGeom>
        </p:spPr>
        <p:txBody>
          <a:bodyPr lIns="0" tIns="0" rIns="0" bIns="0" rtlCol="0" anchor="t">
            <a:spAutoFit/>
          </a:bodyPr>
          <a:lstStyle/>
          <a:p>
            <a:pPr marL="0" lvl="0" indent="0" algn="l">
              <a:lnSpc>
                <a:spcPts val="3359"/>
              </a:lnSpc>
              <a:spcBef>
                <a:spcPct val="0"/>
              </a:spcBef>
            </a:pPr>
            <a:r>
              <a:rPr lang="en-US" sz="2400" dirty="0">
                <a:solidFill>
                  <a:schemeClr val="accent6">
                    <a:lumMod val="50000"/>
                  </a:schemeClr>
                </a:solidFill>
                <a:latin typeface="Open Sans"/>
                <a:ea typeface="Open Sans"/>
                <a:cs typeface="Open Sans"/>
                <a:sym typeface="Open Sans"/>
              </a:rPr>
              <a:t>WASSIM CHMENGUI</a:t>
            </a:r>
          </a:p>
        </p:txBody>
      </p:sp>
      <p:sp>
        <p:nvSpPr>
          <p:cNvPr id="21" name="Freeform 21"/>
          <p:cNvSpPr/>
          <p:nvPr/>
        </p:nvSpPr>
        <p:spPr>
          <a:xfrm>
            <a:off x="8964957" y="4968567"/>
            <a:ext cx="423444" cy="423444"/>
          </a:xfrm>
          <a:custGeom>
            <a:avLst/>
            <a:gdLst/>
            <a:ahLst/>
            <a:cxnLst/>
            <a:rect l="l" t="t" r="r" b="b"/>
            <a:pathLst>
              <a:path w="423444" h="423444">
                <a:moveTo>
                  <a:pt x="0" y="0"/>
                </a:moveTo>
                <a:lnTo>
                  <a:pt x="423444" y="0"/>
                </a:lnTo>
                <a:lnTo>
                  <a:pt x="423444" y="423444"/>
                </a:lnTo>
                <a:lnTo>
                  <a:pt x="0" y="4234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2" name="Freeform 22"/>
          <p:cNvSpPr/>
          <p:nvPr/>
        </p:nvSpPr>
        <p:spPr>
          <a:xfrm>
            <a:off x="8964957" y="5791822"/>
            <a:ext cx="423444" cy="423444"/>
          </a:xfrm>
          <a:custGeom>
            <a:avLst/>
            <a:gdLst/>
            <a:ahLst/>
            <a:cxnLst/>
            <a:rect l="l" t="t" r="r" b="b"/>
            <a:pathLst>
              <a:path w="423444" h="423444">
                <a:moveTo>
                  <a:pt x="0" y="0"/>
                </a:moveTo>
                <a:lnTo>
                  <a:pt x="423444" y="0"/>
                </a:lnTo>
                <a:lnTo>
                  <a:pt x="423444" y="423444"/>
                </a:lnTo>
                <a:lnTo>
                  <a:pt x="0" y="4234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3" name="Freeform 23"/>
          <p:cNvSpPr/>
          <p:nvPr/>
        </p:nvSpPr>
        <p:spPr>
          <a:xfrm>
            <a:off x="8964957" y="6701818"/>
            <a:ext cx="423444" cy="423444"/>
          </a:xfrm>
          <a:custGeom>
            <a:avLst/>
            <a:gdLst/>
            <a:ahLst/>
            <a:cxnLst/>
            <a:rect l="l" t="t" r="r" b="b"/>
            <a:pathLst>
              <a:path w="423444" h="423444">
                <a:moveTo>
                  <a:pt x="0" y="0"/>
                </a:moveTo>
                <a:lnTo>
                  <a:pt x="423444" y="0"/>
                </a:lnTo>
                <a:lnTo>
                  <a:pt x="423444" y="423444"/>
                </a:lnTo>
                <a:lnTo>
                  <a:pt x="0" y="4234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310</Words>
  <Application>Microsoft Office PowerPoint</Application>
  <PresentationFormat>Custom</PresentationFormat>
  <Paragraphs>71</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Open Sans Bold</vt:lpstr>
      <vt:lpstr>Wingdings</vt:lpstr>
      <vt:lpstr>Calibri</vt:lpstr>
      <vt:lpstr>Heading Now 71-78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Flying Airplane</dc:title>
  <cp:lastModifiedBy>user</cp:lastModifiedBy>
  <cp:revision>10</cp:revision>
  <dcterms:created xsi:type="dcterms:W3CDTF">2006-08-16T00:00:00Z</dcterms:created>
  <dcterms:modified xsi:type="dcterms:W3CDTF">2025-12-15T10:25:48Z</dcterms:modified>
  <dc:identifier>DAG7iaGgbvk</dc:identifier>
</cp:coreProperties>
</file>